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67" r:id="rId3"/>
    <p:sldId id="268" r:id="rId4"/>
    <p:sldId id="270" r:id="rId5"/>
    <p:sldId id="269" r:id="rId6"/>
    <p:sldId id="271" r:id="rId7"/>
    <p:sldId id="272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3" r:id="rId4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60"/>
  </p:normalViewPr>
  <p:slideViewPr>
    <p:cSldViewPr>
      <p:cViewPr varScale="1">
        <p:scale>
          <a:sx n="60" d="100"/>
          <a:sy n="60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4C9B7-43B9-47C2-B5A2-6C42749E7AB2}" type="datetimeFigureOut">
              <a:rPr lang="ru-RU" smtClean="0"/>
              <a:pPr/>
              <a:t>06.09.2019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08CD1-9560-4B35-B6F3-AC1308B9278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/>
              <a:t>Что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908CD1-9560-4B35-B6F3-AC1308B9278C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908CD1-9560-4B35-B6F3-AC1308B9278C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EB9D-ABE9-4F4E-917D-94A213FD8CA9}" type="datetimeFigureOut">
              <a:rPr lang="ru-RU" smtClean="0"/>
              <a:pPr/>
              <a:t>06.09.2019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6476-9B41-4E74-8AD7-576A3DF1EC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EB9D-ABE9-4F4E-917D-94A213FD8CA9}" type="datetimeFigureOut">
              <a:rPr lang="ru-RU" smtClean="0"/>
              <a:pPr/>
              <a:t>06.09.2019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6476-9B41-4E74-8AD7-576A3DF1EC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EB9D-ABE9-4F4E-917D-94A213FD8CA9}" type="datetimeFigureOut">
              <a:rPr lang="ru-RU" smtClean="0"/>
              <a:pPr/>
              <a:t>06.09.2019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6476-9B41-4E74-8AD7-576A3DF1EC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EB9D-ABE9-4F4E-917D-94A213FD8CA9}" type="datetimeFigureOut">
              <a:rPr lang="ru-RU" smtClean="0"/>
              <a:pPr/>
              <a:t>06.09.2019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6476-9B41-4E74-8AD7-576A3DF1EC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EB9D-ABE9-4F4E-917D-94A213FD8CA9}" type="datetimeFigureOut">
              <a:rPr lang="ru-RU" smtClean="0"/>
              <a:pPr/>
              <a:t>06.09.2019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6476-9B41-4E74-8AD7-576A3DF1EC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EB9D-ABE9-4F4E-917D-94A213FD8CA9}" type="datetimeFigureOut">
              <a:rPr lang="ru-RU" smtClean="0"/>
              <a:pPr/>
              <a:t>06.09.2019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6476-9B41-4E74-8AD7-576A3DF1EC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EB9D-ABE9-4F4E-917D-94A213FD8CA9}" type="datetimeFigureOut">
              <a:rPr lang="ru-RU" smtClean="0"/>
              <a:pPr/>
              <a:t>06.09.2019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6476-9B41-4E74-8AD7-576A3DF1EC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EB9D-ABE9-4F4E-917D-94A213FD8CA9}" type="datetimeFigureOut">
              <a:rPr lang="ru-RU" smtClean="0"/>
              <a:pPr/>
              <a:t>06.09.2019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6476-9B41-4E74-8AD7-576A3DF1EC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EB9D-ABE9-4F4E-917D-94A213FD8CA9}" type="datetimeFigureOut">
              <a:rPr lang="ru-RU" smtClean="0"/>
              <a:pPr/>
              <a:t>06.09.2019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6476-9B41-4E74-8AD7-576A3DF1EC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EB9D-ABE9-4F4E-917D-94A213FD8CA9}" type="datetimeFigureOut">
              <a:rPr lang="ru-RU" smtClean="0"/>
              <a:pPr/>
              <a:t>06.09.2019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6476-9B41-4E74-8AD7-576A3DF1EC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EB9D-ABE9-4F4E-917D-94A213FD8CA9}" type="datetimeFigureOut">
              <a:rPr lang="ru-RU" smtClean="0"/>
              <a:pPr/>
              <a:t>06.09.2019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6476-9B41-4E74-8AD7-576A3DF1EC8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FEB9D-ABE9-4F4E-917D-94A213FD8CA9}" type="datetimeFigureOut">
              <a:rPr lang="ru-RU" smtClean="0"/>
              <a:pPr/>
              <a:t>06.09.2019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96476-9B41-4E74-8AD7-576A3DF1EC8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lib.stat.cmu.edu/R/CRAN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Введение в </a:t>
            </a:r>
            <a:r>
              <a:rPr lang="en-US" dirty="0"/>
              <a:t>R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R</a:t>
            </a:r>
            <a:r>
              <a:rPr lang="ru-RU" dirty="0"/>
              <a:t>?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Программное средство для </a:t>
            </a:r>
          </a:p>
          <a:p>
            <a:pPr lvl="1"/>
            <a:r>
              <a:rPr lang="ru-RU" dirty="0"/>
              <a:t>Чтения и манипулирования данными</a:t>
            </a:r>
          </a:p>
          <a:p>
            <a:pPr lvl="1"/>
            <a:r>
              <a:rPr lang="ru-RU" dirty="0"/>
              <a:t>Вычислений</a:t>
            </a:r>
          </a:p>
          <a:p>
            <a:pPr lvl="1"/>
            <a:r>
              <a:rPr lang="ru-RU" dirty="0"/>
              <a:t>Проведения статистического анализа</a:t>
            </a:r>
          </a:p>
          <a:p>
            <a:pPr lvl="1"/>
            <a:r>
              <a:rPr lang="ru-RU" dirty="0"/>
              <a:t>Отображения результатов</a:t>
            </a:r>
          </a:p>
          <a:p>
            <a:r>
              <a:rPr lang="ru-RU" dirty="0"/>
              <a:t>Реализация языка </a:t>
            </a:r>
            <a:r>
              <a:rPr lang="en-US" dirty="0"/>
              <a:t>S</a:t>
            </a:r>
            <a:r>
              <a:rPr lang="ru-RU" dirty="0"/>
              <a:t> – языка для манипулирования объектами</a:t>
            </a:r>
          </a:p>
          <a:p>
            <a:r>
              <a:rPr lang="ru-RU" dirty="0"/>
              <a:t>Среда программирования</a:t>
            </a:r>
          </a:p>
          <a:p>
            <a:pPr>
              <a:buNone/>
            </a:pPr>
            <a:r>
              <a:rPr lang="ru-RU" dirty="0"/>
              <a:t>	</a:t>
            </a:r>
            <a:r>
              <a:rPr lang="en-US" dirty="0"/>
              <a:t>R – </a:t>
            </a:r>
            <a:r>
              <a:rPr lang="ru-RU" dirty="0"/>
              <a:t>это среда программирования для анализа данных и графики. Язык изначально был создан </a:t>
            </a:r>
            <a:r>
              <a:rPr lang="en-US" dirty="0"/>
              <a:t>Ross </a:t>
            </a:r>
            <a:r>
              <a:rPr lang="en-US" dirty="0" err="1"/>
              <a:t>Ihaka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Robert</a:t>
            </a:r>
            <a:r>
              <a:rPr lang="ru-RU" dirty="0"/>
              <a:t> </a:t>
            </a:r>
            <a:r>
              <a:rPr lang="en-US" dirty="0"/>
              <a:t>Gentleman </a:t>
            </a:r>
            <a:r>
              <a:rPr lang="ru-RU" dirty="0"/>
              <a:t>на кафедре статистики в университете Окленда. Сейчас множество людей развивают этот язык.</a:t>
            </a:r>
          </a:p>
          <a:p>
            <a:r>
              <a:rPr lang="ru-RU" dirty="0"/>
              <a:t>Платформа для разработки и внедрения новых алгоритмов. </a:t>
            </a:r>
            <a:br>
              <a:rPr lang="ru-RU" dirty="0"/>
            </a:br>
            <a:r>
              <a:rPr lang="en-US" dirty="0"/>
              <a:t>R </a:t>
            </a:r>
            <a:r>
              <a:rPr lang="ru-RU" dirty="0"/>
              <a:t>предоставляет платформу для разработки новых алгоритмов и передачи методов. Это может быть достигнуто тремя путями:</a:t>
            </a:r>
          </a:p>
          <a:p>
            <a:pPr lvl="1"/>
            <a:r>
              <a:rPr lang="ru-RU" dirty="0"/>
              <a:t>Функции, которые используют существующие в </a:t>
            </a:r>
            <a:r>
              <a:rPr lang="en-US" dirty="0"/>
              <a:t>R</a:t>
            </a:r>
            <a:r>
              <a:rPr lang="ru-RU" dirty="0"/>
              <a:t> алгоритмы</a:t>
            </a:r>
          </a:p>
          <a:p>
            <a:pPr lvl="1"/>
            <a:r>
              <a:rPr lang="ru-RU" dirty="0"/>
              <a:t>Функции, которые вызывают процедуры, написанные на </a:t>
            </a:r>
            <a:r>
              <a:rPr lang="en-US" dirty="0"/>
              <a:t>C </a:t>
            </a:r>
            <a:r>
              <a:rPr lang="ru-RU" dirty="0"/>
              <a:t> или </a:t>
            </a:r>
            <a:r>
              <a:rPr lang="en-US" dirty="0"/>
              <a:t>Fortran</a:t>
            </a:r>
            <a:endParaRPr lang="ru-RU" dirty="0"/>
          </a:p>
          <a:p>
            <a:pPr lvl="1"/>
            <a:r>
              <a:rPr lang="ru-RU" dirty="0"/>
              <a:t>Создание пакетов, содержащих код для обобщения и представления данных, вывода их на печать или в виде графиков</a:t>
            </a:r>
            <a:endParaRPr lang="en-US" dirty="0"/>
          </a:p>
          <a:p>
            <a:pPr lvl="1"/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взять 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dirty="0"/>
              <a:t>Последняя копия</a:t>
            </a:r>
            <a:endParaRPr lang="en-US" b="1" dirty="0"/>
          </a:p>
          <a:p>
            <a:pPr>
              <a:buNone/>
            </a:pPr>
            <a:r>
              <a:rPr lang="ru-RU" dirty="0"/>
              <a:t>	Последняя копия </a:t>
            </a:r>
            <a:r>
              <a:rPr lang="en-US" dirty="0"/>
              <a:t>R</a:t>
            </a:r>
            <a:r>
              <a:rPr lang="ru-RU" dirty="0"/>
              <a:t> может быть скачана с </a:t>
            </a:r>
            <a:r>
              <a:rPr lang="ru-RU" dirty="0" err="1"/>
              <a:t>вебсайта</a:t>
            </a:r>
            <a:r>
              <a:rPr lang="ru-RU" dirty="0"/>
              <a:t> </a:t>
            </a:r>
            <a:r>
              <a:rPr lang="en-US" dirty="0"/>
              <a:t>CRAN (Comprehensive</a:t>
            </a:r>
            <a:r>
              <a:rPr lang="ru-RU" dirty="0"/>
              <a:t> </a:t>
            </a:r>
            <a:r>
              <a:rPr lang="en-US" dirty="0"/>
              <a:t>R Archive Network) : </a:t>
            </a:r>
            <a:r>
              <a:rPr lang="en-US" i="1" dirty="0">
                <a:hlinkClick r:id="rId2"/>
              </a:rPr>
              <a:t>http://lib.stat.cmu.edu/R/CRAN/</a:t>
            </a:r>
            <a:r>
              <a:rPr lang="en-US" i="1" dirty="0"/>
              <a:t>.</a:t>
            </a:r>
          </a:p>
          <a:p>
            <a:r>
              <a:rPr lang="en-US" b="1" dirty="0"/>
              <a:t>R Packages</a:t>
            </a:r>
          </a:p>
          <a:p>
            <a:pPr>
              <a:buNone/>
            </a:pPr>
            <a:r>
              <a:rPr lang="ru-RU" dirty="0"/>
              <a:t>	пакеты </a:t>
            </a:r>
            <a:r>
              <a:rPr lang="en-US" dirty="0"/>
              <a:t>R </a:t>
            </a:r>
            <a:r>
              <a:rPr lang="ru-RU" dirty="0"/>
              <a:t>также могут быть скачаны с этого сайта, или могут идти вместе с </a:t>
            </a:r>
            <a:r>
              <a:rPr lang="en-US" dirty="0"/>
              <a:t>R. </a:t>
            </a:r>
            <a:r>
              <a:rPr lang="ru-RU" dirty="0"/>
              <a:t>Список пакетов с их кратким описанием также можно найти на сайте.</a:t>
            </a:r>
          </a:p>
          <a:p>
            <a:r>
              <a:rPr lang="ru-RU" b="1" dirty="0"/>
              <a:t>Документация, руководство пользователя, книги</a:t>
            </a:r>
          </a:p>
          <a:p>
            <a:pPr>
              <a:buNone/>
            </a:pPr>
            <a:r>
              <a:rPr lang="ru-RU" b="1" dirty="0"/>
              <a:t>	</a:t>
            </a:r>
            <a:r>
              <a:rPr lang="ru-RU" dirty="0"/>
              <a:t>Тоже на этом сайте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Команды языка 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</a:t>
            </a:r>
            <a:r>
              <a:rPr lang="en-US" dirty="0"/>
              <a:t>R </a:t>
            </a:r>
            <a:r>
              <a:rPr lang="ru-RU" dirty="0"/>
              <a:t>все команды записываются в файл </a:t>
            </a:r>
            <a:r>
              <a:rPr lang="en-US" dirty="0"/>
              <a:t>.</a:t>
            </a:r>
            <a:r>
              <a:rPr lang="en-US" dirty="0" err="1"/>
              <a:t>Rhistory</a:t>
            </a:r>
            <a:r>
              <a:rPr lang="ru-RU" dirty="0"/>
              <a:t>. Команды можно вызывать повторно, в отличие от </a:t>
            </a:r>
            <a:r>
              <a:rPr lang="en-US" dirty="0" err="1"/>
              <a:t>MatLab</a:t>
            </a:r>
            <a:r>
              <a:rPr lang="ru-RU" dirty="0"/>
              <a:t>. Чтобы убедиться в сохранении истории команд, можно явно воспользоваться функцией </a:t>
            </a:r>
            <a:r>
              <a:rPr lang="en-US" dirty="0" err="1"/>
              <a:t>savedhistory</a:t>
            </a:r>
            <a:r>
              <a:rPr lang="en-US" dirty="0"/>
              <a:t>()</a:t>
            </a:r>
            <a:r>
              <a:rPr lang="ru-RU" dirty="0"/>
              <a:t>. История команд, использованных во время предыдущей сессии, может быть вызвана с помощью функции</a:t>
            </a:r>
            <a:r>
              <a:rPr lang="en-US" dirty="0"/>
              <a:t> </a:t>
            </a:r>
            <a:r>
              <a:rPr lang="en-US" dirty="0" err="1"/>
              <a:t>loadhistory</a:t>
            </a:r>
            <a:r>
              <a:rPr lang="en-US" dirty="0"/>
              <a:t>(). </a:t>
            </a:r>
            <a:r>
              <a:rPr lang="ru-RU" dirty="0"/>
              <a:t>Предыдущие команды вызываются клавишами ↑ и </a:t>
            </a:r>
            <a:r>
              <a:rPr lang="ru-RU" dirty="0" err="1"/>
              <a:t>↓</a:t>
            </a:r>
            <a:r>
              <a:rPr lang="ru-RU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Объекты 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 умолчанию </a:t>
            </a:r>
            <a:r>
              <a:rPr lang="en-US" dirty="0"/>
              <a:t>R </a:t>
            </a:r>
            <a:r>
              <a:rPr lang="ru-RU" dirty="0"/>
              <a:t>создает объекты в памяти и сохраняет их в единственный файл </a:t>
            </a:r>
            <a:r>
              <a:rPr lang="en-US" dirty="0"/>
              <a:t>.</a:t>
            </a:r>
            <a:r>
              <a:rPr lang="en-US" dirty="0" err="1"/>
              <a:t>Rdata</a:t>
            </a:r>
            <a:r>
              <a:rPr lang="ru-RU" dirty="0"/>
              <a:t>. Объекты </a:t>
            </a:r>
            <a:r>
              <a:rPr lang="en-US" dirty="0"/>
              <a:t>R </a:t>
            </a:r>
            <a:r>
              <a:rPr lang="ru-RU" dirty="0"/>
              <a:t>автоматически сохраняются в этот файл. Пакеты загружаются в текущей сессии </a:t>
            </a:r>
            <a:r>
              <a:rPr lang="en-US" dirty="0"/>
              <a:t>R</a:t>
            </a:r>
            <a:r>
              <a:rPr lang="ru-RU" dirty="0"/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Выход из 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Команда </a:t>
            </a:r>
            <a:r>
              <a:rPr lang="en-US" dirty="0"/>
              <a:t>q()</a:t>
            </a:r>
          </a:p>
          <a:p>
            <a:r>
              <a:rPr lang="ru-RU" dirty="0"/>
              <a:t>Или просто закрыть окно. При этом будет предложено сохранить сессию.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Инсталляция пакетов 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483768" y="1340768"/>
            <a:ext cx="6203032" cy="2016223"/>
          </a:xfrm>
        </p:spPr>
        <p:txBody>
          <a:bodyPr>
            <a:normAutofit fontScale="77500" lnSpcReduction="20000"/>
          </a:bodyPr>
          <a:lstStyle/>
          <a:p>
            <a:pPr marL="514350" indent="-514350"/>
            <a:r>
              <a:rPr lang="ru-RU" dirty="0"/>
              <a:t>Инсталлировать пакет в </a:t>
            </a:r>
            <a:r>
              <a:rPr lang="en-US" dirty="0"/>
              <a:t>R </a:t>
            </a:r>
            <a:r>
              <a:rPr lang="ru-RU" dirty="0"/>
              <a:t>можно с помощью меню </a:t>
            </a:r>
            <a:r>
              <a:rPr lang="en-US" dirty="0"/>
              <a:t>Packages/Install Packages</a:t>
            </a:r>
            <a:r>
              <a:rPr lang="ru-RU" dirty="0"/>
              <a:t>. При этом будет предложено выбрать сайт для инсталляции. После инсталляции пакеты можно загружать в </a:t>
            </a:r>
            <a:r>
              <a:rPr lang="en-US" dirty="0"/>
              <a:t>R</a:t>
            </a:r>
            <a:r>
              <a:rPr lang="ru-RU" dirty="0"/>
              <a:t> с помощью </a:t>
            </a:r>
            <a:r>
              <a:rPr lang="en-US" dirty="0"/>
              <a:t>Packages/Load Package</a:t>
            </a:r>
            <a:r>
              <a:rPr lang="ru-RU" dirty="0"/>
              <a:t>.                               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340768"/>
            <a:ext cx="1700014" cy="5157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808" y="3202354"/>
            <a:ext cx="4968552" cy="3444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Язык 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Базовый синтаксис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Ввод команд в 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dirty="0"/>
              <a:t>	По умолчанию</a:t>
            </a:r>
            <a:r>
              <a:rPr lang="en-US" dirty="0"/>
              <a:t> </a:t>
            </a:r>
            <a:r>
              <a:rPr lang="ru-RU" dirty="0"/>
              <a:t>место для ввода команды в </a:t>
            </a:r>
            <a:r>
              <a:rPr lang="en-US" dirty="0"/>
              <a:t>R </a:t>
            </a:r>
            <a:r>
              <a:rPr lang="ru-RU" dirty="0"/>
              <a:t>обозначается знаком </a:t>
            </a:r>
            <a:r>
              <a:rPr lang="en-US" dirty="0"/>
              <a:t>&gt;</a:t>
            </a:r>
            <a:r>
              <a:rPr lang="ru-RU" dirty="0"/>
              <a:t>:</a:t>
            </a:r>
            <a:endParaRPr lang="en-US" dirty="0"/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&gt; 5+2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7</a:t>
            </a: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ru-RU" dirty="0"/>
              <a:t>	Если команда синтаксически неполная, появляется знак продолжения +: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&gt; 8+3*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+ 5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23</a:t>
            </a:r>
          </a:p>
          <a:p>
            <a:pPr>
              <a:buNone/>
            </a:pPr>
            <a:r>
              <a:rPr lang="ru-RU" dirty="0"/>
              <a:t>	Оператор присваивания – левая стрелка </a:t>
            </a:r>
            <a:r>
              <a:rPr lang="en-US" dirty="0"/>
              <a:t>&lt;-</a:t>
            </a:r>
            <a:r>
              <a:rPr lang="ru-RU" dirty="0"/>
              <a:t>: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&gt; a&lt;-4+5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&gt; a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[1] 9</a:t>
            </a:r>
            <a:endParaRPr lang="ru-RU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Ввод команд в 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/>
              <a:t>	Последнее выражение можно получить с помощью внутреннего объекта </a:t>
            </a:r>
            <a:r>
              <a:rPr lang="en-US" dirty="0"/>
              <a:t>.</a:t>
            </a:r>
            <a:r>
              <a:rPr lang="en-US" dirty="0" err="1"/>
              <a:t>Last.value</a:t>
            </a:r>
            <a:r>
              <a:rPr lang="ru-RU" dirty="0"/>
              <a:t>: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value&lt;-.</a:t>
            </a:r>
            <a:r>
              <a:rPr lang="en-US" dirty="0" err="1">
                <a:solidFill>
                  <a:srgbClr val="FF0000"/>
                </a:solidFill>
              </a:rPr>
              <a:t>Last.value</a:t>
            </a: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[1] 9</a:t>
            </a:r>
          </a:p>
          <a:p>
            <a:pPr>
              <a:buNone/>
            </a:pPr>
            <a:r>
              <a:rPr lang="ru-RU" dirty="0"/>
              <a:t>	Функции </a:t>
            </a:r>
            <a:r>
              <a:rPr lang="en-US" dirty="0" err="1"/>
              <a:t>rm</a:t>
            </a:r>
            <a:r>
              <a:rPr lang="en-US" dirty="0"/>
              <a:t>() </a:t>
            </a:r>
            <a:r>
              <a:rPr lang="ru-RU" dirty="0"/>
              <a:t>или</a:t>
            </a:r>
            <a:r>
              <a:rPr lang="en-US" dirty="0"/>
              <a:t> remove()</a:t>
            </a:r>
            <a:r>
              <a:rPr lang="ru-RU" dirty="0"/>
              <a:t> используются для удаления объектов из рабочей директории: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&gt; </a:t>
            </a:r>
            <a:r>
              <a:rPr lang="ru-RU" dirty="0" err="1">
                <a:solidFill>
                  <a:srgbClr val="FF0000"/>
                </a:solidFill>
              </a:rPr>
              <a:t>rm</a:t>
            </a:r>
            <a:r>
              <a:rPr lang="ru-RU" dirty="0">
                <a:solidFill>
                  <a:srgbClr val="FF0000"/>
                </a:solidFill>
              </a:rPr>
              <a:t>(</a:t>
            </a:r>
            <a:r>
              <a:rPr lang="ru-RU" dirty="0" err="1">
                <a:solidFill>
                  <a:srgbClr val="FF0000"/>
                </a:solidFill>
              </a:rPr>
              <a:t>value</a:t>
            </a:r>
            <a:r>
              <a:rPr lang="ru-RU" dirty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&gt; </a:t>
            </a:r>
            <a:r>
              <a:rPr lang="ru-RU" dirty="0" err="1">
                <a:solidFill>
                  <a:srgbClr val="FF0000"/>
                </a:solidFill>
              </a:rPr>
              <a:t>value</a:t>
            </a:r>
            <a:endParaRPr lang="ru-RU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Ошибка: объект '</a:t>
            </a:r>
            <a:r>
              <a:rPr lang="ru-RU" dirty="0" err="1">
                <a:solidFill>
                  <a:srgbClr val="FF0000"/>
                </a:solidFill>
              </a:rPr>
              <a:t>value</a:t>
            </a:r>
            <a:r>
              <a:rPr lang="ru-RU" dirty="0">
                <a:solidFill>
                  <a:srgbClr val="FF0000"/>
                </a:solidFill>
              </a:rPr>
              <a:t>' не найден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Имена в 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Имена в </a:t>
            </a:r>
            <a:r>
              <a:rPr lang="en-US" dirty="0"/>
              <a:t>R</a:t>
            </a:r>
            <a:r>
              <a:rPr lang="ru-RU" dirty="0"/>
              <a:t> могут быть любыми комбинациями букв, цифр и точек, но они не могут начинаться с цифры. </a:t>
            </a:r>
            <a:r>
              <a:rPr lang="en-US" dirty="0"/>
              <a:t>R </a:t>
            </a:r>
            <a:r>
              <a:rPr lang="ru-RU" dirty="0"/>
              <a:t>чувствителен к регистру.</a:t>
            </a:r>
          </a:p>
          <a:p>
            <a:r>
              <a:rPr lang="ru-RU" dirty="0"/>
              <a:t>Нужно избегать использования имен встроенных функций в качестве объектов. Для этого желательно проверять содержание объекта, который вы хотите использовать.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Ошибка: объект '</a:t>
            </a:r>
            <a:r>
              <a:rPr lang="en-US" dirty="0">
                <a:solidFill>
                  <a:srgbClr val="FF0000"/>
                </a:solidFill>
              </a:rPr>
              <a:t>value' </a:t>
            </a:r>
            <a:r>
              <a:rPr lang="ru-RU" dirty="0">
                <a:solidFill>
                  <a:srgbClr val="FF0000"/>
                </a:solidFill>
              </a:rPr>
              <a:t>не найден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&gt; </a:t>
            </a:r>
            <a:r>
              <a:rPr lang="en-US" dirty="0">
                <a:solidFill>
                  <a:srgbClr val="FF0000"/>
                </a:solidFill>
              </a:rPr>
              <a:t>T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[1] TRUE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t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function (x) </a:t>
            </a:r>
          </a:p>
          <a:p>
            <a:pPr>
              <a:buNone/>
            </a:pPr>
            <a:r>
              <a:rPr lang="en-US" dirty="0" err="1">
                <a:solidFill>
                  <a:srgbClr val="FF0000"/>
                </a:solidFill>
              </a:rPr>
              <a:t>UseMethod</a:t>
            </a:r>
            <a:r>
              <a:rPr lang="en-US" dirty="0">
                <a:solidFill>
                  <a:srgbClr val="FF0000"/>
                </a:solidFill>
              </a:rPr>
              <a:t>("t")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&lt;</a:t>
            </a:r>
            <a:r>
              <a:rPr lang="en-US" dirty="0" err="1">
                <a:solidFill>
                  <a:srgbClr val="FF0000"/>
                </a:solidFill>
              </a:rPr>
              <a:t>bytecode</a:t>
            </a:r>
            <a:r>
              <a:rPr lang="en-US" dirty="0">
                <a:solidFill>
                  <a:srgbClr val="FF0000"/>
                </a:solidFill>
              </a:rPr>
              <a:t>: 0x000000001394b0f0&gt;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&lt;environment: </a:t>
            </a:r>
            <a:r>
              <a:rPr lang="en-US" dirty="0" err="1">
                <a:solidFill>
                  <a:srgbClr val="FF0000"/>
                </a:solidFill>
              </a:rPr>
              <a:t>namespace:base</a:t>
            </a:r>
            <a:r>
              <a:rPr lang="en-US" dirty="0">
                <a:solidFill>
                  <a:srgbClr val="FF0000"/>
                </a:solidFill>
              </a:rPr>
              <a:t>&gt;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Использование пробелов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R </a:t>
            </a:r>
            <a:r>
              <a:rPr lang="ru-RU" dirty="0"/>
              <a:t>игнорирует лишние пробелы между именами объектов и операторами: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 &lt;- 2 * </a:t>
            </a:r>
            <a:r>
              <a:rPr lang="ru-RU" dirty="0">
                <a:solidFill>
                  <a:srgbClr val="FF0000"/>
                </a:solidFill>
              </a:rPr>
              <a:t>   </a:t>
            </a:r>
            <a:r>
              <a:rPr lang="en-US" dirty="0">
                <a:solidFill>
                  <a:srgbClr val="FF0000"/>
                </a:solidFill>
              </a:rPr>
              <a:t>4 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[1] 8</a:t>
            </a:r>
            <a:endParaRPr lang="ru-RU" dirty="0">
              <a:solidFill>
                <a:srgbClr val="FF0000"/>
              </a:solidFill>
            </a:endParaRPr>
          </a:p>
          <a:p>
            <a:r>
              <a:rPr lang="ru-RU" dirty="0"/>
              <a:t>Но в операторе присваивания нельзя использовать пробел между </a:t>
            </a:r>
            <a:r>
              <a:rPr lang="en-US" dirty="0"/>
              <a:t>&lt;</a:t>
            </a:r>
            <a:r>
              <a:rPr lang="ru-RU" dirty="0"/>
              <a:t> и -.</a:t>
            </a:r>
          </a:p>
          <a:p>
            <a:r>
              <a:rPr lang="ru-RU" dirty="0"/>
              <a:t>Количество пробелов в выражениях, стоящих в кавычках, существенно: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value&lt;-"Hello"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value1&lt;-" Hello"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value==value1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[1] FALSE</a:t>
            </a:r>
          </a:p>
          <a:p>
            <a:pPr>
              <a:buNone/>
            </a:pPr>
            <a:endParaRPr lang="ru-RU" dirty="0"/>
          </a:p>
          <a:p>
            <a:endParaRPr lang="en-US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Справка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Вызов справки по функции, объекту или оператору осуществляется следующими командами:</a:t>
            </a:r>
          </a:p>
          <a:p>
            <a:pPr>
              <a:buNone/>
            </a:pPr>
            <a:r>
              <a:rPr lang="en-US" dirty="0"/>
              <a:t>	&gt;?function</a:t>
            </a:r>
          </a:p>
          <a:p>
            <a:pPr>
              <a:buNone/>
            </a:pPr>
            <a:r>
              <a:rPr lang="en-US" dirty="0"/>
              <a:t>	&gt;help(function)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ru-RU" dirty="0"/>
              <a:t>или вызовом меню </a:t>
            </a:r>
            <a:r>
              <a:rPr lang="en-US" dirty="0"/>
              <a:t>Help </a:t>
            </a:r>
            <a:r>
              <a:rPr lang="ru-RU" dirty="0"/>
              <a:t>в </a:t>
            </a:r>
            <a:r>
              <a:rPr lang="en-US" dirty="0"/>
              <a:t>R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Вызов справки по какой-либо теме осуществляется командой</a:t>
            </a:r>
            <a:br>
              <a:rPr lang="ru-RU" dirty="0"/>
            </a:br>
            <a:r>
              <a:rPr lang="en-US" dirty="0"/>
              <a:t>&gt;</a:t>
            </a:r>
            <a:r>
              <a:rPr lang="en-US" dirty="0" err="1"/>
              <a:t>help.search</a:t>
            </a:r>
            <a:r>
              <a:rPr lang="en-US" dirty="0"/>
              <a:t>("topic")</a:t>
            </a:r>
            <a:r>
              <a:rPr lang="ru-RU" dirty="0"/>
              <a:t>, например: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</a:t>
            </a:r>
            <a:r>
              <a:rPr lang="en-US" dirty="0" err="1">
                <a:solidFill>
                  <a:srgbClr val="FF0000"/>
                </a:solidFill>
              </a:rPr>
              <a:t>help.search</a:t>
            </a:r>
            <a:r>
              <a:rPr lang="en-US" dirty="0">
                <a:solidFill>
                  <a:srgbClr val="FF0000"/>
                </a:solidFill>
              </a:rPr>
              <a:t>("linear regression")</a:t>
            </a:r>
            <a:endParaRPr lang="ru-RU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данных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457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 </a:t>
            </a:r>
            <a:r>
              <a:rPr lang="en-US" dirty="0"/>
              <a:t>R </a:t>
            </a:r>
            <a:r>
              <a:rPr lang="ru-RU" dirty="0"/>
              <a:t>есть четыре атомарных типа данных</a:t>
            </a:r>
            <a:endParaRPr lang="en-US" dirty="0"/>
          </a:p>
          <a:p>
            <a:pPr lvl="1"/>
            <a:r>
              <a:rPr lang="en-US" dirty="0"/>
              <a:t>Numeric</a:t>
            </a:r>
            <a:br>
              <a:rPr lang="ru-RU" dirty="0"/>
            </a:br>
            <a:r>
              <a:rPr lang="en-US" dirty="0">
                <a:solidFill>
                  <a:srgbClr val="FF0000"/>
                </a:solidFill>
              </a:rPr>
              <a:t>&gt; value &lt;- 605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&gt; value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ru-RU" dirty="0">
                <a:solidFill>
                  <a:srgbClr val="FF0000"/>
                </a:solidFill>
              </a:rPr>
              <a:t>[1] 605</a:t>
            </a:r>
          </a:p>
          <a:p>
            <a:pPr lvl="1"/>
            <a:r>
              <a:rPr lang="en-US" dirty="0"/>
              <a:t>Character</a:t>
            </a:r>
            <a:br>
              <a:rPr lang="ru-RU" dirty="0"/>
            </a:br>
            <a:r>
              <a:rPr lang="en-US" dirty="0">
                <a:solidFill>
                  <a:srgbClr val="FF0000"/>
                </a:solidFill>
              </a:rPr>
              <a:t>&gt; string &lt;- "Hello World«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&gt; string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[1] "Hello World«</a:t>
            </a:r>
            <a:endParaRPr lang="ru-RU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Logical</a:t>
            </a:r>
            <a:br>
              <a:rPr lang="ru-RU" dirty="0"/>
            </a:br>
            <a:r>
              <a:rPr lang="ru-RU" dirty="0">
                <a:solidFill>
                  <a:srgbClr val="FF0000"/>
                </a:solidFill>
              </a:rPr>
              <a:t>&gt; 2 &lt; 4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[1] TRUE</a:t>
            </a:r>
          </a:p>
          <a:p>
            <a:pPr lvl="1"/>
            <a:r>
              <a:rPr lang="en-US" dirty="0"/>
              <a:t>Complex number</a:t>
            </a:r>
            <a:br>
              <a:rPr lang="ru-RU" dirty="0"/>
            </a:br>
            <a:r>
              <a:rPr lang="en-US" dirty="0">
                <a:solidFill>
                  <a:srgbClr val="FF0000"/>
                </a:solidFill>
              </a:rPr>
              <a:t>&gt; </a:t>
            </a:r>
            <a:r>
              <a:rPr lang="en-US" dirty="0" err="1">
                <a:solidFill>
                  <a:srgbClr val="FF0000"/>
                </a:solidFill>
              </a:rPr>
              <a:t>cn</a:t>
            </a:r>
            <a:r>
              <a:rPr lang="en-US" dirty="0">
                <a:solidFill>
                  <a:srgbClr val="FF0000"/>
                </a:solidFill>
              </a:rPr>
              <a:t> &lt;- 2 + 3i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&gt; </a:t>
            </a:r>
            <a:r>
              <a:rPr lang="en-US" dirty="0" err="1">
                <a:solidFill>
                  <a:srgbClr val="FF0000"/>
                </a:solidFill>
              </a:rPr>
              <a:t>cn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[1] 2+3i</a:t>
            </a:r>
            <a:endParaRPr lang="ru-RU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Атрибуты объекта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</p:spPr>
        <p:txBody>
          <a:bodyPr>
            <a:normAutofit fontScale="47500" lnSpcReduction="20000"/>
          </a:bodyPr>
          <a:lstStyle/>
          <a:p>
            <a:r>
              <a:rPr lang="ru-RU" dirty="0"/>
              <a:t>Атрибуты важны при манипулировании объектами. У всех объектов есть два атрибута --  </a:t>
            </a:r>
            <a:r>
              <a:rPr lang="en-US" dirty="0"/>
              <a:t>mode </a:t>
            </a:r>
            <a:r>
              <a:rPr lang="ru-RU" dirty="0"/>
              <a:t>и </a:t>
            </a:r>
            <a:r>
              <a:rPr lang="en-US" dirty="0"/>
              <a:t>length</a:t>
            </a:r>
            <a:r>
              <a:rPr lang="ru-RU" dirty="0"/>
              <a:t>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mode(value)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[1] "numeric"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length(value)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1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mode(string)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[1] "character"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length(string)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1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mode(2&lt;4)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[1] "logical"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mode(</a:t>
            </a:r>
            <a:r>
              <a:rPr lang="en-US" dirty="0" err="1">
                <a:solidFill>
                  <a:srgbClr val="FF0000"/>
                </a:solidFill>
              </a:rPr>
              <a:t>cn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[1] "complex"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length(</a:t>
            </a:r>
            <a:r>
              <a:rPr lang="en-US" dirty="0" err="1">
                <a:solidFill>
                  <a:srgbClr val="FF0000"/>
                </a:solidFill>
              </a:rPr>
              <a:t>cn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1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mode(sin)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[1] "function"</a:t>
            </a:r>
          </a:p>
          <a:p>
            <a:r>
              <a:rPr lang="ru-RU" dirty="0"/>
              <a:t>Объекты </a:t>
            </a:r>
            <a:r>
              <a:rPr lang="en-US" dirty="0"/>
              <a:t>NULL </a:t>
            </a:r>
            <a:r>
              <a:rPr lang="ru-RU" dirty="0"/>
              <a:t>– это пустые объекты без присвоенного </a:t>
            </a:r>
            <a:r>
              <a:rPr lang="en-US" dirty="0"/>
              <a:t>mode. </a:t>
            </a:r>
            <a:r>
              <a:rPr lang="ru-RU" dirty="0"/>
              <a:t>Их длина равна нулю.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names(value)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[1] NULL</a:t>
            </a:r>
            <a:endParaRPr lang="ru-RU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Пропущенные значения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328592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Во многих практических примерах некоторые элементы данных могут быть неизвестны, следовательно, им будет присвоено пропущенное значение. Код для пропущенных значений это </a:t>
            </a:r>
            <a:r>
              <a:rPr lang="en-US" dirty="0"/>
              <a:t>NA</a:t>
            </a:r>
            <a:r>
              <a:rPr lang="ru-RU" dirty="0"/>
              <a:t>. Он указывает на то, что значение элемента объекта неизвестно. Каждая операция над </a:t>
            </a:r>
            <a:r>
              <a:rPr lang="en-US" dirty="0"/>
              <a:t>NA </a:t>
            </a:r>
            <a:r>
              <a:rPr lang="ru-RU" dirty="0"/>
              <a:t>дает результат </a:t>
            </a:r>
            <a:r>
              <a:rPr lang="en-US" dirty="0"/>
              <a:t>NA</a:t>
            </a:r>
            <a:r>
              <a:rPr lang="ru-RU" dirty="0"/>
              <a:t>.</a:t>
            </a:r>
          </a:p>
          <a:p>
            <a:r>
              <a:rPr lang="ru-RU" dirty="0"/>
              <a:t>Функция </a:t>
            </a:r>
            <a:r>
              <a:rPr lang="en-US" dirty="0"/>
              <a:t> is.na() </a:t>
            </a:r>
            <a:r>
              <a:rPr lang="ru-RU" dirty="0"/>
              <a:t>может быть использована для проверки пропущенных значений в объекте.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 &lt;- c(3,6,23,NA)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is.na(value)</a:t>
            </a:r>
          </a:p>
          <a:p>
            <a:pPr>
              <a:buNone/>
            </a:pPr>
            <a:r>
              <a:rPr lang="da-DK" dirty="0">
                <a:solidFill>
                  <a:srgbClr val="FF0000"/>
                </a:solidFill>
              </a:rPr>
              <a:t>[1] FALSE FALSE FALSE TRUE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any(is.na(value))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[1] TRUE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</a:t>
            </a:r>
            <a:r>
              <a:rPr lang="en-US" dirty="0" err="1">
                <a:solidFill>
                  <a:srgbClr val="FF0000"/>
                </a:solidFill>
              </a:rPr>
              <a:t>na.omit</a:t>
            </a:r>
            <a:r>
              <a:rPr lang="en-US" dirty="0">
                <a:solidFill>
                  <a:srgbClr val="FF0000"/>
                </a:solidFill>
              </a:rPr>
              <a:t>(value)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3 6 23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</a:t>
            </a:r>
            <a:r>
              <a:rPr lang="en-US" dirty="0" err="1">
                <a:solidFill>
                  <a:srgbClr val="FF0000"/>
                </a:solidFill>
              </a:rPr>
              <a:t>attr</a:t>
            </a:r>
            <a:r>
              <a:rPr lang="en-US" dirty="0">
                <a:solidFill>
                  <a:srgbClr val="FF0000"/>
                </a:solidFill>
              </a:rPr>
              <a:t>(,"</a:t>
            </a:r>
            <a:r>
              <a:rPr lang="en-US" dirty="0" err="1">
                <a:solidFill>
                  <a:srgbClr val="FF0000"/>
                </a:solidFill>
              </a:rPr>
              <a:t>na.action</a:t>
            </a:r>
            <a:r>
              <a:rPr lang="en-US" dirty="0">
                <a:solidFill>
                  <a:srgbClr val="FF0000"/>
                </a:solidFill>
              </a:rPr>
              <a:t>")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4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</a:t>
            </a:r>
            <a:r>
              <a:rPr lang="en-US" dirty="0" err="1">
                <a:solidFill>
                  <a:srgbClr val="FF0000"/>
                </a:solidFill>
              </a:rPr>
              <a:t>attr</a:t>
            </a:r>
            <a:r>
              <a:rPr lang="en-US" dirty="0">
                <a:solidFill>
                  <a:srgbClr val="FF0000"/>
                </a:solidFill>
              </a:rPr>
              <a:t>(,"class")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[1] "omit"</a:t>
            </a:r>
            <a:endParaRPr lang="ru-RU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Неопределенные и бесконечные значения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Бесконечные и неопределенные значения</a:t>
            </a:r>
            <a:r>
              <a:rPr lang="en-US" dirty="0"/>
              <a:t> (</a:t>
            </a:r>
            <a:r>
              <a:rPr lang="en-US" dirty="0" err="1"/>
              <a:t>Inf</a:t>
            </a:r>
            <a:r>
              <a:rPr lang="en-US" dirty="0"/>
              <a:t>, -</a:t>
            </a:r>
            <a:r>
              <a:rPr lang="en-US" dirty="0" err="1"/>
              <a:t>Inf</a:t>
            </a:r>
            <a:r>
              <a:rPr lang="en-US" dirty="0"/>
              <a:t> and </a:t>
            </a:r>
            <a:r>
              <a:rPr lang="en-US" dirty="0" err="1"/>
              <a:t>NaN</a:t>
            </a:r>
            <a:r>
              <a:rPr lang="en-US" dirty="0"/>
              <a:t>) </a:t>
            </a:r>
            <a:r>
              <a:rPr lang="ru-RU" dirty="0"/>
              <a:t>могут быть протестированы с помощью функций</a:t>
            </a:r>
            <a:r>
              <a:rPr lang="en-US" dirty="0"/>
              <a:t> </a:t>
            </a:r>
            <a:r>
              <a:rPr lang="en-US" dirty="0" err="1"/>
              <a:t>is.finite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is.infinite</a:t>
            </a:r>
            <a:r>
              <a:rPr lang="en-US" dirty="0"/>
              <a:t>, is.nan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/>
              <a:t>is.number</a:t>
            </a:r>
            <a:r>
              <a:rPr lang="en-US" dirty="0"/>
              <a:t> </a:t>
            </a:r>
            <a:r>
              <a:rPr lang="ru-RU" dirty="0"/>
              <a:t>аналогичным образом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Эти значения можно получить, например, при делении на 0 или взятии логарифма от 0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value1 &lt;- 5/0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value2 &lt;- log(0)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value3 &lt;- 0/0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cat("value1 = ",value1," value2 = ",value2,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" value3 = ",value3,"\n")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value1 = </a:t>
            </a:r>
            <a:r>
              <a:rPr lang="en-US" dirty="0" err="1">
                <a:solidFill>
                  <a:srgbClr val="FF0000"/>
                </a:solidFill>
              </a:rPr>
              <a:t>Inf</a:t>
            </a:r>
            <a:r>
              <a:rPr lang="en-US" dirty="0">
                <a:solidFill>
                  <a:srgbClr val="FF0000"/>
                </a:solidFill>
              </a:rPr>
              <a:t> value2 = -</a:t>
            </a:r>
            <a:r>
              <a:rPr lang="en-US" dirty="0" err="1">
                <a:solidFill>
                  <a:srgbClr val="FF0000"/>
                </a:solidFill>
              </a:rPr>
              <a:t>Inf</a:t>
            </a:r>
            <a:r>
              <a:rPr lang="en-US" dirty="0">
                <a:solidFill>
                  <a:srgbClr val="FF0000"/>
                </a:solidFill>
              </a:rPr>
              <a:t> value3 = </a:t>
            </a:r>
            <a:r>
              <a:rPr lang="en-US" dirty="0" err="1">
                <a:solidFill>
                  <a:srgbClr val="FF0000"/>
                </a:solidFill>
              </a:rPr>
              <a:t>NaN</a:t>
            </a:r>
            <a:r>
              <a:rPr lang="ru-RU" dirty="0">
                <a:solidFill>
                  <a:srgbClr val="FF0000"/>
                </a:solidFill>
              </a:rPr>
              <a:t>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Арифметические операторы</a:t>
            </a:r>
          </a:p>
        </p:txBody>
      </p:sp>
      <p:graphicFrame>
        <p:nvGraphicFramePr>
          <p:cNvPr id="6" name="Содержимое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85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оператор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Сложение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&gt;2+5</a:t>
                      </a:r>
                    </a:p>
                    <a:p>
                      <a:r>
                        <a:rPr lang="en-US" dirty="0"/>
                        <a:t>[1] 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Вычитание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&gt;2-5</a:t>
                      </a:r>
                    </a:p>
                    <a:p>
                      <a:r>
                        <a:rPr lang="en-US" dirty="0"/>
                        <a:t>[1] -3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Умножение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&gt;2*5</a:t>
                      </a:r>
                    </a:p>
                    <a:p>
                      <a:r>
                        <a:rPr lang="en-US" dirty="0"/>
                        <a:t>[1] 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Деление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&gt;2/5</a:t>
                      </a:r>
                    </a:p>
                    <a:p>
                      <a:r>
                        <a:rPr lang="en-US" dirty="0"/>
                        <a:t>[1] 0.4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^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Возведение в степень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&gt;2^5</a:t>
                      </a:r>
                    </a:p>
                    <a:p>
                      <a:r>
                        <a:rPr lang="en-US" dirty="0"/>
                        <a:t>[1] 32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%/%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Целочисленное</a:t>
                      </a:r>
                      <a:r>
                        <a:rPr lang="ru-RU" baseline="0" dirty="0"/>
                        <a:t> деление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&gt;5%/%2</a:t>
                      </a:r>
                    </a:p>
                    <a:p>
                      <a:r>
                        <a:rPr lang="en-US" dirty="0"/>
                        <a:t>[1] 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%%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Деление по</a:t>
                      </a:r>
                      <a:r>
                        <a:rPr lang="ru-RU" baseline="0" dirty="0"/>
                        <a:t> модулю</a:t>
                      </a:r>
                      <a:r>
                        <a:rPr lang="en-US" baseline="0" dirty="0"/>
                        <a:t> (</a:t>
                      </a:r>
                      <a:r>
                        <a:rPr lang="ru-RU" baseline="0" dirty="0"/>
                        <a:t>остаток от деления</a:t>
                      </a:r>
                      <a:r>
                        <a:rPr lang="en-US" baseline="0" dirty="0"/>
                        <a:t>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&gt;5%%2</a:t>
                      </a:r>
                    </a:p>
                    <a:p>
                      <a:r>
                        <a:rPr lang="en-US" dirty="0"/>
                        <a:t>[1] 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 сравнения</a:t>
            </a: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67544" y="1340768"/>
          <a:ext cx="8229600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Оператор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равно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value1</a:t>
                      </a:r>
                    </a:p>
                    <a:p>
                      <a:r>
                        <a:rPr lang="ru-RU" sz="1800" baseline="0" dirty="0"/>
                        <a:t>[1] 3 6 23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value1==23</a:t>
                      </a:r>
                      <a:endParaRPr lang="ru-RU" sz="18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/>
                        <a:t>[1] FALSE </a:t>
                      </a:r>
                      <a:r>
                        <a:rPr lang="en-US" sz="1800" baseline="0" dirty="0" err="1"/>
                        <a:t>FALSE</a:t>
                      </a:r>
                      <a:r>
                        <a:rPr lang="en-US" sz="1800" baseline="0" dirty="0"/>
                        <a:t>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 равно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value1 != 23</a:t>
                      </a:r>
                    </a:p>
                    <a:p>
                      <a:r>
                        <a:rPr lang="en-US" sz="1800" baseline="0" dirty="0"/>
                        <a:t>[1] TRUE </a:t>
                      </a:r>
                      <a:r>
                        <a:rPr lang="en-US" sz="1800" baseline="0" dirty="0" err="1"/>
                        <a:t>TRUE</a:t>
                      </a:r>
                      <a:r>
                        <a:rPr lang="en-US" sz="1800" baseline="0" dirty="0"/>
                        <a:t> FALSE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Меньше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value1 &lt; 6</a:t>
                      </a:r>
                    </a:p>
                    <a:p>
                      <a:r>
                        <a:rPr lang="en-US" sz="1800" baseline="0" dirty="0"/>
                        <a:t>[1] TRUE FALSE </a:t>
                      </a:r>
                      <a:r>
                        <a:rPr lang="en-US" sz="1800" baseline="0" dirty="0" err="1"/>
                        <a:t>FALSE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Больше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value1 &gt; 6</a:t>
                      </a:r>
                    </a:p>
                    <a:p>
                      <a:r>
                        <a:rPr lang="en-US" sz="1800" baseline="0" dirty="0"/>
                        <a:t>[1] FALSE </a:t>
                      </a:r>
                      <a:r>
                        <a:rPr lang="en-US" sz="1800" baseline="0" dirty="0" err="1"/>
                        <a:t>FALSE</a:t>
                      </a:r>
                      <a:r>
                        <a:rPr lang="en-US" sz="1800" baseline="0" dirty="0"/>
                        <a:t> TRUE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&lt;=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Меньше</a:t>
                      </a:r>
                      <a:r>
                        <a:rPr lang="ru-RU" baseline="0" dirty="0"/>
                        <a:t> или равно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value1 &lt;= 6</a:t>
                      </a:r>
                    </a:p>
                    <a:p>
                      <a:r>
                        <a:rPr lang="en-US" sz="1800" baseline="0" dirty="0"/>
                        <a:t>[1] TRUE </a:t>
                      </a:r>
                      <a:r>
                        <a:rPr lang="en-US" sz="1800" baseline="0" dirty="0" err="1"/>
                        <a:t>TRUE</a:t>
                      </a:r>
                      <a:r>
                        <a:rPr lang="en-US" sz="1800" baseline="0" dirty="0"/>
                        <a:t> FALSE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&gt;=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Больше или равно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value1 &gt;= 6</a:t>
                      </a:r>
                    </a:p>
                    <a:p>
                      <a:r>
                        <a:rPr lang="en-US" sz="1800" baseline="0" dirty="0"/>
                        <a:t>[1] FALSE </a:t>
                      </a:r>
                      <a:r>
                        <a:rPr lang="en-US" sz="1800" baseline="0" dirty="0" err="1"/>
                        <a:t>FALSE</a:t>
                      </a:r>
                      <a:r>
                        <a:rPr lang="en-US" sz="1800" baseline="0" dirty="0"/>
                        <a:t> TRUE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Логические операторы</a:t>
            </a: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539552" y="1340768"/>
          <a:ext cx="8229600" cy="503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1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Оператор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&amp;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Поэлементное</a:t>
                      </a:r>
                      <a:r>
                        <a:rPr lang="ru-RU" baseline="0" dirty="0"/>
                        <a:t> 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value2</a:t>
                      </a:r>
                    </a:p>
                    <a:p>
                      <a:r>
                        <a:rPr lang="ru-RU" sz="1800" baseline="0" dirty="0"/>
                        <a:t>[1] 1 2 3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value1==6 &amp; value2 &lt;= 2</a:t>
                      </a:r>
                    </a:p>
                    <a:p>
                      <a:r>
                        <a:rPr lang="en-US" sz="1800" baseline="0" dirty="0"/>
                        <a:t>[1] FALSE TRUE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|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Поэлементное</a:t>
                      </a:r>
                      <a:r>
                        <a:rPr lang="ru-RU" baseline="0" dirty="0"/>
                        <a:t> или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value1==6 | value2 &lt;= 2</a:t>
                      </a:r>
                    </a:p>
                    <a:p>
                      <a:r>
                        <a:rPr lang="en-US" sz="1800" baseline="0" dirty="0"/>
                        <a:t>[1] TRUE </a:t>
                      </a:r>
                      <a:r>
                        <a:rPr lang="en-US" sz="1800" baseline="0" dirty="0" err="1"/>
                        <a:t>TRUE</a:t>
                      </a:r>
                      <a:r>
                        <a:rPr lang="en-US" sz="1800" baseline="0" dirty="0"/>
                        <a:t> FALSE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&amp;&amp;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Управляющее</a:t>
                      </a:r>
                      <a:r>
                        <a:rPr lang="ru-RU" baseline="0" dirty="0"/>
                        <a:t> и (проверяет только первый элемент вектора)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value1[1] &lt;- NA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is.na(value1) &amp;&amp; value2 == 1</a:t>
                      </a:r>
                    </a:p>
                    <a:p>
                      <a:r>
                        <a:rPr lang="en-US" sz="1800" baseline="0" dirty="0"/>
                        <a:t>[1] TRUE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||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Управляющее</a:t>
                      </a:r>
                      <a:r>
                        <a:rPr lang="ru-RU" baseline="0" dirty="0"/>
                        <a:t> или (проверяет только первый элемент вектора)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is.na(value1) || value2 == 4</a:t>
                      </a:r>
                    </a:p>
                    <a:p>
                      <a:r>
                        <a:rPr lang="en-US" sz="1800" baseline="0" dirty="0"/>
                        <a:t>[1] TRUE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xor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Поэлементное</a:t>
                      </a:r>
                      <a:r>
                        <a:rPr lang="ru-RU" baseline="0" dirty="0"/>
                        <a:t> исключающее или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  <a:r>
                        <a:rPr lang="en-US" sz="18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xor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(is.na(value1), value2 == 2)</a:t>
                      </a:r>
                    </a:p>
                    <a:p>
                      <a:r>
                        <a:rPr lang="en-US" sz="1800" baseline="0" dirty="0"/>
                        <a:t>[1] TRUE </a:t>
                      </a:r>
                      <a:r>
                        <a:rPr lang="en-US" sz="1800" baseline="0" dirty="0" err="1"/>
                        <a:t>TRUE</a:t>
                      </a:r>
                      <a:r>
                        <a:rPr lang="en-US" sz="1800" baseline="0" dirty="0"/>
                        <a:t> FALSE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!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Логическое</a:t>
                      </a:r>
                      <a:r>
                        <a:rPr lang="ru-RU" baseline="0" dirty="0"/>
                        <a:t> отрицание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!is.na(value1)</a:t>
                      </a:r>
                    </a:p>
                    <a:p>
                      <a:r>
                        <a:rPr lang="en-US" sz="1800" baseline="0" dirty="0"/>
                        <a:t>[1] FALSE TRUE </a:t>
                      </a:r>
                      <a:r>
                        <a:rPr lang="en-US" sz="1800" baseline="0" dirty="0" err="1"/>
                        <a:t>TRUE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Распределения и симуляция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1268761"/>
            <a:ext cx="8229600" cy="2232247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В </a:t>
            </a:r>
            <a:r>
              <a:rPr lang="en-US" dirty="0"/>
              <a:t>R </a:t>
            </a:r>
            <a:r>
              <a:rPr lang="ru-RU" dirty="0"/>
              <a:t>есть множество распределений для симуляции данных, нахождения квантилей, вероятностей и функций плотности. Менее распространенные распределения находятся в специальных пакетах.</a:t>
            </a:r>
          </a:p>
          <a:p>
            <a:r>
              <a:rPr lang="ru-RU" dirty="0"/>
              <a:t>Примеры распределений вероятности: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187624" y="3501008"/>
          <a:ext cx="7200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Функция </a:t>
                      </a:r>
                      <a:r>
                        <a:rPr lang="en-US" dirty="0"/>
                        <a:t>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Распределение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Параметры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Пакет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binom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биномиальное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size, </a:t>
                      </a:r>
                      <a:r>
                        <a:rPr lang="en-US" dirty="0" err="1"/>
                        <a:t>prob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экспоненциальное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rate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gamma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Гамма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shape, rate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norm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нормальное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Mean, </a:t>
                      </a:r>
                      <a:r>
                        <a:rPr lang="en-US" dirty="0" err="1"/>
                        <a:t>sd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Распределения и симуляция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</a:t>
            </a:r>
            <a:r>
              <a:rPr lang="en-US" dirty="0"/>
              <a:t> R</a:t>
            </a:r>
            <a:r>
              <a:rPr lang="ru-RU" dirty="0"/>
              <a:t> каждое в имени каждого распределения используется префикс, обозначающий, нужно ли использовать вероятность, квантиль, функцию плотности или случайное значение. Ниже показаны все возможные префиксы:</a:t>
            </a:r>
          </a:p>
          <a:p>
            <a:pPr lvl="1"/>
            <a:r>
              <a:rPr lang="en-US" dirty="0"/>
              <a:t>p: </a:t>
            </a:r>
            <a:r>
              <a:rPr lang="ru-RU" dirty="0"/>
              <a:t>вероятности</a:t>
            </a:r>
            <a:r>
              <a:rPr lang="en-US" dirty="0"/>
              <a:t> (</a:t>
            </a:r>
            <a:r>
              <a:rPr lang="ru-RU" dirty="0"/>
              <a:t>функции распределения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q: </a:t>
            </a:r>
            <a:r>
              <a:rPr lang="ru-RU" dirty="0"/>
              <a:t>квантили</a:t>
            </a:r>
            <a:r>
              <a:rPr lang="en-US" dirty="0"/>
              <a:t> (</a:t>
            </a:r>
            <a:r>
              <a:rPr lang="ru-RU" dirty="0"/>
              <a:t>процентные точки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d: </a:t>
            </a:r>
            <a:r>
              <a:rPr lang="ru-RU" dirty="0"/>
              <a:t>функции плотности</a:t>
            </a:r>
            <a:r>
              <a:rPr lang="en-US" dirty="0"/>
              <a:t> (</a:t>
            </a:r>
            <a:r>
              <a:rPr lang="ru-RU" dirty="0"/>
              <a:t>вероятности для дискретных случайных величин)</a:t>
            </a:r>
            <a:endParaRPr lang="en-US" dirty="0"/>
          </a:p>
          <a:p>
            <a:pPr lvl="1"/>
            <a:r>
              <a:rPr lang="en-US" dirty="0"/>
              <a:t>r: </a:t>
            </a:r>
            <a:r>
              <a:rPr lang="ru-RU" dirty="0"/>
              <a:t>случайные (или симулированные</a:t>
            </a:r>
            <a:r>
              <a:rPr lang="en-US" dirty="0"/>
              <a:t>) </a:t>
            </a:r>
            <a:r>
              <a:rPr lang="ru-RU" dirty="0"/>
              <a:t>значения.</a:t>
            </a:r>
            <a:endParaRPr lang="en-US" dirty="0"/>
          </a:p>
          <a:p>
            <a:r>
              <a:rPr lang="ru-RU" dirty="0"/>
              <a:t>Следующий пример показывает, как можно симулировать данные из нормального распределения, используя функция </a:t>
            </a:r>
            <a:r>
              <a:rPr lang="en-US" dirty="0" err="1"/>
              <a:t>rnorm</a:t>
            </a:r>
            <a:r>
              <a:rPr lang="en-US" dirty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norm.vals1 &lt;- </a:t>
            </a:r>
            <a:r>
              <a:rPr lang="en-US" dirty="0" err="1"/>
              <a:t>rnorm</a:t>
            </a:r>
            <a:r>
              <a:rPr lang="en-US" dirty="0"/>
              <a:t>(n=10)</a:t>
            </a:r>
          </a:p>
          <a:p>
            <a:pPr>
              <a:buNone/>
            </a:pPr>
            <a:r>
              <a:rPr lang="en-US" dirty="0"/>
              <a:t>norm.vals2 &lt;- </a:t>
            </a:r>
            <a:r>
              <a:rPr lang="en-US" dirty="0" err="1"/>
              <a:t>rnorm</a:t>
            </a:r>
            <a:r>
              <a:rPr lang="en-US" dirty="0"/>
              <a:t>(n=100)</a:t>
            </a:r>
          </a:p>
          <a:p>
            <a:pPr>
              <a:buNone/>
            </a:pPr>
            <a:r>
              <a:rPr lang="en-US" dirty="0"/>
              <a:t>norm.vals3 &lt;- </a:t>
            </a:r>
            <a:r>
              <a:rPr lang="en-US" dirty="0" err="1"/>
              <a:t>rnorm</a:t>
            </a:r>
            <a:r>
              <a:rPr lang="en-US" dirty="0"/>
              <a:t>(n=1000)</a:t>
            </a:r>
          </a:p>
          <a:p>
            <a:pPr>
              <a:buNone/>
            </a:pPr>
            <a:r>
              <a:rPr lang="en-US" dirty="0"/>
              <a:t>norm.vals4 &lt;- </a:t>
            </a:r>
            <a:r>
              <a:rPr lang="en-US" dirty="0" err="1"/>
              <a:t>rnorm</a:t>
            </a:r>
            <a:r>
              <a:rPr lang="en-US" dirty="0"/>
              <a:t>(n=10000)</a:t>
            </a:r>
          </a:p>
          <a:p>
            <a:pPr>
              <a:buNone/>
            </a:pPr>
            <a:r>
              <a:rPr lang="en-US" dirty="0"/>
              <a:t># set up plotting region</a:t>
            </a:r>
          </a:p>
          <a:p>
            <a:pPr>
              <a:buNone/>
            </a:pPr>
            <a:r>
              <a:rPr lang="en-US" dirty="0"/>
              <a:t>par(</a:t>
            </a:r>
            <a:r>
              <a:rPr lang="en-US" dirty="0" err="1"/>
              <a:t>mfrow</a:t>
            </a:r>
            <a:r>
              <a:rPr lang="en-US" dirty="0"/>
              <a:t>=c(2,2))</a:t>
            </a:r>
          </a:p>
          <a:p>
            <a:pPr>
              <a:buNone/>
            </a:pPr>
            <a:r>
              <a:rPr lang="en-US" dirty="0" err="1"/>
              <a:t>hist</a:t>
            </a:r>
            <a:r>
              <a:rPr lang="en-US" dirty="0"/>
              <a:t>(norm.vals1,main="10 RVs")</a:t>
            </a:r>
          </a:p>
          <a:p>
            <a:pPr>
              <a:buNone/>
            </a:pPr>
            <a:r>
              <a:rPr lang="en-US" dirty="0" err="1"/>
              <a:t>hist</a:t>
            </a:r>
            <a:r>
              <a:rPr lang="en-US" dirty="0"/>
              <a:t>(norm.vals2,main="100 RVs")</a:t>
            </a:r>
          </a:p>
          <a:p>
            <a:pPr>
              <a:buNone/>
            </a:pPr>
            <a:r>
              <a:rPr lang="en-US" dirty="0" err="1"/>
              <a:t>hist</a:t>
            </a:r>
            <a:r>
              <a:rPr lang="en-US" dirty="0"/>
              <a:t>(norm.vals3,main="1000 RVs")</a:t>
            </a:r>
          </a:p>
          <a:p>
            <a:pPr>
              <a:buNone/>
            </a:pPr>
            <a:r>
              <a:rPr lang="en-US" dirty="0" err="1"/>
              <a:t>hist</a:t>
            </a:r>
            <a:r>
              <a:rPr lang="en-US" dirty="0"/>
              <a:t>(norm.vals4,main="10000 RVs")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Гистограммы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1340768"/>
            <a:ext cx="5119464" cy="5261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Интерпретация результатов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С ростом размера выборки форма распределения становится больше похожа на нормальное распределение. Про объект </a:t>
            </a:r>
            <a:r>
              <a:rPr lang="en-US" dirty="0"/>
              <a:t>norm.vals1 </a:t>
            </a:r>
            <a:r>
              <a:rPr lang="ru-RU" dirty="0"/>
              <a:t>трудно сказать, что он был сгенерирован из нормального распределения с мат.ожиданием 0 и СКО 1. Если посмотреть на суммарную статистику этого объекта, то увидим, что его мат. ожидание и СКО не близки к 0 и 1 соответственно.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c(mean(norm.vals1),</a:t>
            </a:r>
            <a:r>
              <a:rPr lang="en-US" dirty="0" err="1">
                <a:solidFill>
                  <a:srgbClr val="FF0000"/>
                </a:solidFill>
              </a:rPr>
              <a:t>sd</a:t>
            </a:r>
            <a:r>
              <a:rPr lang="en-US" dirty="0">
                <a:solidFill>
                  <a:srgbClr val="FF0000"/>
                </a:solidFill>
              </a:rPr>
              <a:t>(norm.vals1))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0.2461831 0.7978427</a:t>
            </a:r>
          </a:p>
          <a:p>
            <a:r>
              <a:rPr lang="ru-RU" dirty="0"/>
              <a:t>Посчитаем МО и СКО объекта </a:t>
            </a:r>
            <a:r>
              <a:rPr lang="en-US" dirty="0"/>
              <a:t>norm.vals4</a:t>
            </a:r>
            <a:r>
              <a:rPr lang="ru-RU" dirty="0"/>
              <a:t>, сгенерированного </a:t>
            </a:r>
            <a:r>
              <a:rPr lang="en-US" dirty="0"/>
              <a:t>10,000 </a:t>
            </a:r>
            <a:r>
              <a:rPr lang="ru-RU" dirty="0"/>
              <a:t>случайных значений из распределения </a:t>
            </a:r>
            <a:r>
              <a:rPr lang="en-US" dirty="0"/>
              <a:t>N(0, 1)</a:t>
            </a:r>
            <a:r>
              <a:rPr lang="ru-RU" dirty="0"/>
              <a:t>: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c(mean(norm.vals4),</a:t>
            </a:r>
            <a:r>
              <a:rPr lang="en-US" dirty="0" err="1">
                <a:solidFill>
                  <a:srgbClr val="FF0000"/>
                </a:solidFill>
              </a:rPr>
              <a:t>sd</a:t>
            </a:r>
            <a:r>
              <a:rPr lang="en-US" dirty="0">
                <a:solidFill>
                  <a:srgbClr val="FF0000"/>
                </a:solidFill>
              </a:rPr>
              <a:t>(norm.vals4))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0.004500385 1.013574485</a:t>
            </a:r>
          </a:p>
          <a:p>
            <a:r>
              <a:rPr lang="ru-RU" dirty="0"/>
              <a:t>Для больших симуляций, результат будет еще ближе: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norm.vals5 &lt;- </a:t>
            </a:r>
            <a:r>
              <a:rPr lang="en-US" dirty="0" err="1">
                <a:solidFill>
                  <a:srgbClr val="FF0000"/>
                </a:solidFill>
              </a:rPr>
              <a:t>rnorm</a:t>
            </a:r>
            <a:r>
              <a:rPr lang="en-US" dirty="0">
                <a:solidFill>
                  <a:srgbClr val="FF0000"/>
                </a:solidFill>
              </a:rPr>
              <a:t>(n=1000000)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c(mean(norm.vals5),</a:t>
            </a:r>
            <a:r>
              <a:rPr lang="en-US" dirty="0" err="1">
                <a:solidFill>
                  <a:srgbClr val="FF0000"/>
                </a:solidFill>
              </a:rPr>
              <a:t>sd</a:t>
            </a:r>
            <a:r>
              <a:rPr lang="en-US" dirty="0">
                <a:solidFill>
                  <a:srgbClr val="FF0000"/>
                </a:solidFill>
              </a:rPr>
              <a:t>(norm.vals5))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0.0004690608 0.9994011738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Центральная предельная теорема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 приближении размера </a:t>
            </a:r>
            <a:r>
              <a:rPr lang="en-US" dirty="0"/>
              <a:t>n </a:t>
            </a:r>
            <a:r>
              <a:rPr lang="ru-RU" dirty="0"/>
              <a:t>выборки, взятой из популяции с математическим ожиданием </a:t>
            </a:r>
            <a:r>
              <a:rPr lang="el-GR" dirty="0"/>
              <a:t>μ</a:t>
            </a:r>
            <a:r>
              <a:rPr lang="ru-RU" dirty="0"/>
              <a:t> и дисперсией </a:t>
            </a:r>
            <a:r>
              <a:rPr lang="el-GR" dirty="0"/>
              <a:t>σ</a:t>
            </a:r>
            <a:r>
              <a:rPr lang="ru-RU" baseline="30000" dirty="0"/>
              <a:t>2</a:t>
            </a:r>
            <a:r>
              <a:rPr lang="ru-RU" dirty="0"/>
              <a:t>, к бесконечности, статистические оценки выборочного распределения будут сходится к рассматриваемым теоретическим распределениям.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Объекты </a:t>
            </a:r>
            <a:r>
              <a:rPr lang="en-US" dirty="0"/>
              <a:t>R</a:t>
            </a:r>
            <a:endParaRPr lang="ru-RU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Объекты данных в 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Четыре наиболее часто используемых типа объектов данных в </a:t>
            </a:r>
            <a:r>
              <a:rPr lang="en-US" dirty="0"/>
              <a:t>R </a:t>
            </a:r>
            <a:r>
              <a:rPr lang="ru-RU" dirty="0"/>
              <a:t>– это векторы, матрицы, блоки данных и списки.</a:t>
            </a:r>
          </a:p>
          <a:p>
            <a:r>
              <a:rPr lang="ru-RU" dirty="0"/>
              <a:t>Вектор – набор элементов одинакового вида </a:t>
            </a:r>
            <a:r>
              <a:rPr lang="en-US" dirty="0"/>
              <a:t>(mode)</a:t>
            </a:r>
            <a:r>
              <a:rPr lang="ru-RU" dirty="0"/>
              <a:t>, логических, численных (</a:t>
            </a:r>
            <a:r>
              <a:rPr lang="en-US" dirty="0"/>
              <a:t>integer </a:t>
            </a:r>
            <a:r>
              <a:rPr lang="ru-RU" dirty="0"/>
              <a:t>или </a:t>
            </a:r>
            <a:r>
              <a:rPr lang="en-US" dirty="0"/>
              <a:t>double</a:t>
            </a:r>
            <a:r>
              <a:rPr lang="ru-RU" dirty="0"/>
              <a:t>),  комплексных, символьных или списков.</a:t>
            </a:r>
          </a:p>
          <a:p>
            <a:r>
              <a:rPr lang="ru-RU" dirty="0"/>
              <a:t>Матрица это множество элементов, представленных в виде строк и столбцов, где все элементы одного вида </a:t>
            </a:r>
            <a:r>
              <a:rPr lang="en-US" dirty="0"/>
              <a:t>(mode)</a:t>
            </a:r>
            <a:r>
              <a:rPr lang="ru-RU" dirty="0"/>
              <a:t>, логических, численных (</a:t>
            </a:r>
            <a:r>
              <a:rPr lang="en-US" dirty="0"/>
              <a:t>integer </a:t>
            </a:r>
            <a:r>
              <a:rPr lang="ru-RU" dirty="0"/>
              <a:t>или </a:t>
            </a:r>
            <a:r>
              <a:rPr lang="en-US" dirty="0"/>
              <a:t>double</a:t>
            </a:r>
            <a:r>
              <a:rPr lang="ru-RU" dirty="0"/>
              <a:t>),  комплексных или символьных</a:t>
            </a:r>
            <a:r>
              <a:rPr lang="en-US" dirty="0"/>
              <a:t>.</a:t>
            </a:r>
          </a:p>
          <a:p>
            <a:r>
              <a:rPr lang="ru-RU" dirty="0"/>
              <a:t>Блок данных – то же самое, что и матрица, но колонки могут быть разных видов.</a:t>
            </a:r>
            <a:endParaRPr lang="en-US" b="1" dirty="0"/>
          </a:p>
          <a:p>
            <a:r>
              <a:rPr lang="ru-RU" dirty="0"/>
              <a:t>Список – это обобщение вектора, представляющее собой коллекцию объектов данных.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векторов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Функция </a:t>
            </a:r>
            <a:r>
              <a:rPr lang="en-US" b="1" dirty="0"/>
              <a:t>c</a:t>
            </a:r>
            <a:endParaRPr lang="ru-RU" b="1" dirty="0"/>
          </a:p>
          <a:p>
            <a:r>
              <a:rPr lang="ru-RU" dirty="0"/>
              <a:t>Самый простой способ создать вектор – конкатенация с помощью функции </a:t>
            </a:r>
            <a:r>
              <a:rPr lang="en-US" dirty="0"/>
              <a:t>c</a:t>
            </a:r>
            <a:r>
              <a:rPr lang="ru-RU" dirty="0"/>
              <a:t>, связывающей вместе символьные, численные или логические элементы.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 &gt; value.num &lt;- c(3,4,2,6,20)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</a:t>
            </a:r>
            <a:r>
              <a:rPr lang="en-US" dirty="0" err="1">
                <a:solidFill>
                  <a:srgbClr val="FF0000"/>
                </a:solidFill>
              </a:rPr>
              <a:t>value.char</a:t>
            </a:r>
            <a:r>
              <a:rPr lang="en-US" dirty="0">
                <a:solidFill>
                  <a:srgbClr val="FF0000"/>
                </a:solidFill>
              </a:rPr>
              <a:t> &lt;- c("</a:t>
            </a:r>
            <a:r>
              <a:rPr lang="en-US" dirty="0" err="1">
                <a:solidFill>
                  <a:srgbClr val="FF0000"/>
                </a:solidFill>
              </a:rPr>
              <a:t>koala","kangaroo","echidna</a:t>
            </a:r>
            <a:r>
              <a:rPr lang="en-US" dirty="0">
                <a:solidFill>
                  <a:srgbClr val="FF0000"/>
                </a:solidFill>
              </a:rPr>
              <a:t>")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value.logical.1 &lt;- c(F,F,T,T)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# or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value.logical.2 &lt;- c(FALSE,FALSE,TRUE,TRUE)</a:t>
            </a:r>
            <a:endParaRPr lang="ru-RU" dirty="0">
              <a:solidFill>
                <a:srgbClr val="FF0000"/>
              </a:solidFill>
            </a:endParaRPr>
          </a:p>
          <a:p>
            <a:r>
              <a:rPr lang="ru-RU" dirty="0"/>
              <a:t>Для логических векторов </a:t>
            </a:r>
            <a:r>
              <a:rPr lang="en-US" dirty="0"/>
              <a:t> TRUE </a:t>
            </a:r>
            <a:r>
              <a:rPr lang="ru-RU" dirty="0"/>
              <a:t>и </a:t>
            </a:r>
            <a:r>
              <a:rPr lang="en-US" dirty="0"/>
              <a:t>FALSE</a:t>
            </a:r>
            <a:r>
              <a:rPr lang="ru-RU" dirty="0"/>
              <a:t> – логические значения, а </a:t>
            </a:r>
            <a:r>
              <a:rPr lang="en-US" dirty="0"/>
              <a:t>T </a:t>
            </a:r>
            <a:r>
              <a:rPr lang="ru-RU" dirty="0"/>
              <a:t>и </a:t>
            </a:r>
            <a:r>
              <a:rPr lang="en-US" dirty="0"/>
              <a:t>F </a:t>
            </a:r>
            <a:r>
              <a:rPr lang="ru-RU" dirty="0"/>
              <a:t>– переменные с такими значениями.</a:t>
            </a:r>
            <a:endParaRPr lang="ru-RU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векторов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04056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Функции </a:t>
            </a:r>
            <a:r>
              <a:rPr lang="en-US" b="1" dirty="0"/>
              <a:t>rep </a:t>
            </a:r>
            <a:r>
              <a:rPr lang="ru-RU" b="1" dirty="0"/>
              <a:t>и</a:t>
            </a:r>
            <a:r>
              <a:rPr lang="en-US" b="1" dirty="0"/>
              <a:t> </a:t>
            </a:r>
            <a:r>
              <a:rPr lang="en-US" b="1" dirty="0" err="1"/>
              <a:t>seq</a:t>
            </a:r>
            <a:endParaRPr lang="ru-RU" b="1" dirty="0"/>
          </a:p>
          <a:p>
            <a:r>
              <a:rPr lang="ru-RU" dirty="0"/>
              <a:t>Функция </a:t>
            </a:r>
            <a:r>
              <a:rPr lang="en-US" dirty="0"/>
              <a:t>rep </a:t>
            </a:r>
            <a:r>
              <a:rPr lang="ru-RU" dirty="0"/>
              <a:t>реплицирует элементы векторов. Например,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 &lt;- rep(5,6)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5 5 5 5 5 5</a:t>
            </a:r>
          </a:p>
          <a:p>
            <a:r>
              <a:rPr lang="ru-RU" dirty="0"/>
              <a:t>Функция</a:t>
            </a:r>
            <a:r>
              <a:rPr lang="en-US" dirty="0"/>
              <a:t> </a:t>
            </a:r>
            <a:r>
              <a:rPr lang="en-US" dirty="0" err="1"/>
              <a:t>seq</a:t>
            </a:r>
            <a:r>
              <a:rPr lang="en-US" dirty="0"/>
              <a:t> </a:t>
            </a:r>
            <a:r>
              <a:rPr lang="ru-RU" dirty="0"/>
              <a:t>создает регулярную последовательность значений, формирующих вектор. 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</a:t>
            </a:r>
            <a:r>
              <a:rPr lang="en-US" dirty="0" err="1">
                <a:solidFill>
                  <a:srgbClr val="FF0000"/>
                </a:solidFill>
              </a:rPr>
              <a:t>seq</a:t>
            </a:r>
            <a:r>
              <a:rPr lang="en-US" dirty="0">
                <a:solidFill>
                  <a:srgbClr val="FF0000"/>
                </a:solidFill>
              </a:rPr>
              <a:t>(from=2,to=10,by=2)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2 4 6 8 10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</a:t>
            </a:r>
            <a:r>
              <a:rPr lang="en-US" dirty="0" err="1">
                <a:solidFill>
                  <a:srgbClr val="FF0000"/>
                </a:solidFill>
              </a:rPr>
              <a:t>seq</a:t>
            </a:r>
            <a:r>
              <a:rPr lang="en-US" dirty="0">
                <a:solidFill>
                  <a:srgbClr val="FF0000"/>
                </a:solidFill>
              </a:rPr>
              <a:t>(from=2,to=10,length=5)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2 4 6 8 10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&gt; 1:5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1 2 3 4 5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</a:t>
            </a:r>
            <a:r>
              <a:rPr lang="en-US" dirty="0" err="1">
                <a:solidFill>
                  <a:srgbClr val="FF0000"/>
                </a:solidFill>
              </a:rPr>
              <a:t>seq</a:t>
            </a:r>
            <a:r>
              <a:rPr lang="en-US" dirty="0">
                <a:solidFill>
                  <a:srgbClr val="FF0000"/>
                </a:solidFill>
              </a:rPr>
              <a:t>(along=value)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1 2 3 4 5 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векторов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dirty="0"/>
              <a:t>Комбинирование функций </a:t>
            </a:r>
            <a:r>
              <a:rPr lang="en-US" b="1" dirty="0"/>
              <a:t>c, rep </a:t>
            </a:r>
            <a:r>
              <a:rPr lang="ru-RU" b="1" dirty="0"/>
              <a:t>и</a:t>
            </a:r>
            <a:r>
              <a:rPr lang="en-US" b="1" dirty="0"/>
              <a:t> </a:t>
            </a:r>
            <a:r>
              <a:rPr lang="en-US" b="1" dirty="0" err="1"/>
              <a:t>seq</a:t>
            </a:r>
            <a:r>
              <a:rPr lang="en-US" b="1" dirty="0"/>
              <a:t> 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 &lt;- c(1,3,4,rep(3,4),</a:t>
            </a:r>
            <a:r>
              <a:rPr lang="en-US" dirty="0" err="1">
                <a:solidFill>
                  <a:srgbClr val="FF0000"/>
                </a:solidFill>
              </a:rPr>
              <a:t>seq</a:t>
            </a:r>
            <a:r>
              <a:rPr lang="en-US" dirty="0">
                <a:solidFill>
                  <a:srgbClr val="FF0000"/>
                </a:solidFill>
              </a:rPr>
              <a:t>(from=1,to=6,by=2))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1 3 4 3 3 3 3 1 3 5</a:t>
            </a:r>
          </a:p>
          <a:p>
            <a:r>
              <a:rPr lang="ru-RU" dirty="0"/>
              <a:t>Элементы вектора должны быть одного вида. Команда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c(1:3,"a","b","c")</a:t>
            </a:r>
          </a:p>
          <a:p>
            <a:pPr>
              <a:buNone/>
            </a:pPr>
            <a:r>
              <a:rPr lang="ru-RU" dirty="0"/>
              <a:t>	выдаст сообщение об ошибке</a:t>
            </a:r>
            <a:r>
              <a:rPr lang="en-US" dirty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векторов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Функция </a:t>
            </a:r>
            <a:r>
              <a:rPr lang="en-US" b="1" dirty="0"/>
              <a:t>scan </a:t>
            </a:r>
          </a:p>
          <a:p>
            <a:r>
              <a:rPr lang="ru-RU" dirty="0"/>
              <a:t>Функция </a:t>
            </a:r>
            <a:r>
              <a:rPr lang="en-US" dirty="0"/>
              <a:t>scan </a:t>
            </a:r>
            <a:r>
              <a:rPr lang="ru-RU" dirty="0"/>
              <a:t>используется для ввода данных с клавиатуры. </a:t>
            </a:r>
          </a:p>
          <a:p>
            <a:r>
              <a:rPr lang="ru-RU" dirty="0"/>
              <a:t>Также данные могут считываться из файлов. </a:t>
            </a:r>
          </a:p>
          <a:p>
            <a:r>
              <a:rPr lang="ru-RU" dirty="0"/>
              <a:t>Пример считывания данных с клавиатуры: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 &lt;- scan()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1: 3 4 2 6 20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6: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3 4 2 6 20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Основные вычисления с численными векторами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Вычисления над векторами производятся поэлементно. При выполнении арифметических операций над векторами, один из которых короче другого, более короткий вектор используется повторно.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x &lt;- </a:t>
            </a:r>
            <a:r>
              <a:rPr lang="en-US" dirty="0" err="1">
                <a:solidFill>
                  <a:srgbClr val="FF0000"/>
                </a:solidFill>
              </a:rPr>
              <a:t>runif</a:t>
            </a:r>
            <a:r>
              <a:rPr lang="en-US" dirty="0">
                <a:solidFill>
                  <a:srgbClr val="FF0000"/>
                </a:solidFill>
              </a:rPr>
              <a:t>(10)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x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0.3565455 0.8021543 0.6338499 0.9511269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[5] 0.9741948 0.1371202 0.2457823 0.7773790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[9] 0.2524180 0.5636271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y &lt;</a:t>
            </a:r>
            <a:r>
              <a:rPr lang="ru-RU" dirty="0">
                <a:solidFill>
                  <a:srgbClr val="FF0000"/>
                </a:solidFill>
              </a:rPr>
              <a:t>-</a:t>
            </a:r>
            <a:r>
              <a:rPr lang="en-US" dirty="0">
                <a:solidFill>
                  <a:srgbClr val="FF0000"/>
                </a:solidFill>
              </a:rPr>
              <a:t> 2*x + 1 # recycling short vectors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y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1.713091 2.604309 2.267700 2.902254 2.948390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[6] 1.274240 1.491565 2.554758 1.504836 2.127254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z &lt;- (x-mean(x))/</a:t>
            </a:r>
            <a:r>
              <a:rPr lang="en-US" dirty="0" err="1">
                <a:solidFill>
                  <a:srgbClr val="FF0000"/>
                </a:solidFill>
              </a:rPr>
              <a:t>sd</a:t>
            </a:r>
            <a:r>
              <a:rPr lang="en-US" dirty="0">
                <a:solidFill>
                  <a:srgbClr val="FF0000"/>
                </a:solidFill>
              </a:rPr>
              <a:t>(x) 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z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-0.69326707 0.75794573 0.20982940 1.24310440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[5] 1.31822981 -1.40786896 -1.05398941 0.67726018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[9] -1.03237897 -0.01886511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mean(z)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[1] -1.488393e-16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</a:t>
            </a:r>
            <a:r>
              <a:rPr lang="en-US" dirty="0" err="1">
                <a:solidFill>
                  <a:srgbClr val="FF0000"/>
                </a:solidFill>
              </a:rPr>
              <a:t>sd</a:t>
            </a:r>
            <a:r>
              <a:rPr lang="en-US" dirty="0">
                <a:solidFill>
                  <a:srgbClr val="FF0000"/>
                </a:solidFill>
              </a:rPr>
              <a:t>(z)</a:t>
            </a:r>
            <a:endParaRPr lang="ru-RU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Функции, которые дают результат такой же длины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412776"/>
            <a:ext cx="8676456" cy="4580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Функции, результатом которых является число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844824"/>
            <a:ext cx="6889612" cy="3422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матриц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544616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/>
              <a:t>Функции </a:t>
            </a:r>
            <a:r>
              <a:rPr lang="en-US" b="1" dirty="0"/>
              <a:t>dim </a:t>
            </a:r>
            <a:r>
              <a:rPr lang="ru-RU" b="1" dirty="0"/>
              <a:t>и</a:t>
            </a:r>
            <a:r>
              <a:rPr lang="en-US" b="1" dirty="0"/>
              <a:t> matrix</a:t>
            </a:r>
          </a:p>
          <a:p>
            <a:r>
              <a:rPr lang="ru-RU" dirty="0"/>
              <a:t>Функция </a:t>
            </a:r>
            <a:r>
              <a:rPr lang="en-US" dirty="0"/>
              <a:t>dim </a:t>
            </a:r>
            <a:r>
              <a:rPr lang="ru-RU" dirty="0"/>
              <a:t>может использоваться для конвертации вектора в матрицу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 &lt;- </a:t>
            </a:r>
            <a:r>
              <a:rPr lang="en-US" dirty="0" err="1">
                <a:solidFill>
                  <a:srgbClr val="FF0000"/>
                </a:solidFill>
              </a:rPr>
              <a:t>rnorm</a:t>
            </a:r>
            <a:r>
              <a:rPr lang="en-US" dirty="0">
                <a:solidFill>
                  <a:srgbClr val="FF0000"/>
                </a:solidFill>
              </a:rPr>
              <a:t>(6)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dim(value) &lt;- c(2,3)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[,1] [,2] [,3]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[1,] 0.7093460 -0.8643547 -0.1093764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[2,] -0.3461981 -1.7348805 1.8176161</a:t>
            </a:r>
          </a:p>
          <a:p>
            <a:r>
              <a:rPr lang="ru-RU" dirty="0"/>
              <a:t>Чтобы конвертировать назад в вектор, надо опять применить функцию </a:t>
            </a:r>
            <a:r>
              <a:rPr lang="en-US" dirty="0"/>
              <a:t>dim</a:t>
            </a:r>
            <a:r>
              <a:rPr lang="ru-RU" dirty="0"/>
              <a:t>.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dim(value) &lt;- NULL</a:t>
            </a:r>
          </a:p>
          <a:p>
            <a:r>
              <a:rPr lang="ru-RU" dirty="0"/>
              <a:t>Или можно использовать функцию </a:t>
            </a:r>
            <a:r>
              <a:rPr lang="en-US" dirty="0"/>
              <a:t>matrix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matrix(value,2,3)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[,1] [,2] [,3]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[1,] 0.7093460 -0.8643547 -0.1093764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[2,] -0.3461981 -1.7348805 1.8176161</a:t>
            </a:r>
          </a:p>
          <a:p>
            <a:r>
              <a:rPr lang="ru-RU" dirty="0"/>
              <a:t>Если хотим заполнять по строкам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matrix(value,2,3,byrow=T)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[,1] [,2] [,3]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[1,] 0.709346 -0.3461981 -0.8643547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[2,] -1.734881 -0.1093764 1.8176161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матриц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/>
              <a:t>Функции </a:t>
            </a:r>
            <a:r>
              <a:rPr lang="en-US" b="1" dirty="0" err="1"/>
              <a:t>rbind</a:t>
            </a:r>
            <a:r>
              <a:rPr lang="en-US" b="1" dirty="0"/>
              <a:t> </a:t>
            </a:r>
            <a:r>
              <a:rPr lang="ru-RU" b="1" dirty="0"/>
              <a:t>и</a:t>
            </a:r>
            <a:r>
              <a:rPr lang="en-US" b="1" dirty="0"/>
              <a:t> </a:t>
            </a:r>
            <a:r>
              <a:rPr lang="en-US" b="1" dirty="0" err="1"/>
              <a:t>cbind</a:t>
            </a:r>
            <a:r>
              <a:rPr lang="en-US" b="1" dirty="0"/>
              <a:t> </a:t>
            </a:r>
          </a:p>
          <a:p>
            <a:r>
              <a:rPr lang="ru-RU" dirty="0"/>
              <a:t>Чтобы привязать строку к уже существующей матрице, используется функция </a:t>
            </a:r>
            <a:r>
              <a:rPr lang="en-US" dirty="0" err="1"/>
              <a:t>rbind</a:t>
            </a:r>
            <a:endParaRPr lang="ru-RU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 &lt;- matrix(</a:t>
            </a:r>
            <a:r>
              <a:rPr lang="en-US" dirty="0" err="1">
                <a:solidFill>
                  <a:srgbClr val="FF0000"/>
                </a:solidFill>
              </a:rPr>
              <a:t>rnorm</a:t>
            </a:r>
            <a:r>
              <a:rPr lang="en-US" dirty="0">
                <a:solidFill>
                  <a:srgbClr val="FF0000"/>
                </a:solidFill>
              </a:rPr>
              <a:t>(6),2,3,byrow=T)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value2 &lt;- </a:t>
            </a:r>
            <a:r>
              <a:rPr lang="en-US" dirty="0" err="1">
                <a:solidFill>
                  <a:srgbClr val="FF0000"/>
                </a:solidFill>
              </a:rPr>
              <a:t>rbind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value,c</a:t>
            </a:r>
            <a:r>
              <a:rPr lang="en-US" dirty="0">
                <a:solidFill>
                  <a:srgbClr val="FF0000"/>
                </a:solidFill>
              </a:rPr>
              <a:t>(1,1,2))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value2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[,1] [,2] [,3]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[1,] 0.5037181 0.2142138 0.3245778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[2,] -0.3206511 -0.4632307 0.2654400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[3,] 1.0000000 1.0000000 2.0000000</a:t>
            </a:r>
          </a:p>
          <a:p>
            <a:r>
              <a:rPr lang="ru-RU" dirty="0"/>
              <a:t>Чтобы привязать столбец к уже существующей матрице, используется функция </a:t>
            </a:r>
            <a:r>
              <a:rPr lang="en-US" dirty="0" err="1"/>
              <a:t>cbind</a:t>
            </a:r>
            <a:r>
              <a:rPr lang="en-US" dirty="0"/>
              <a:t> </a:t>
            </a:r>
            <a:endParaRPr lang="ru-RU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value3 &lt;- </a:t>
            </a:r>
            <a:r>
              <a:rPr lang="en-US" dirty="0" err="1">
                <a:solidFill>
                  <a:srgbClr val="FF0000"/>
                </a:solidFill>
              </a:rPr>
              <a:t>cbind</a:t>
            </a:r>
            <a:r>
              <a:rPr lang="en-US" dirty="0">
                <a:solidFill>
                  <a:srgbClr val="FF0000"/>
                </a:solidFill>
              </a:rPr>
              <a:t>(value2,c(1,1,2))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[,1] [,2] [,3] [,4]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[1,] 0.5037181 0.2142138 0.3245778 1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[2,] -0.3206511 -0.4632307 0.2654400 1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[3,] 1.0000000 1.0000000 2.0000000 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Функция </a:t>
            </a:r>
            <a:r>
              <a:rPr lang="en-US" b="1" dirty="0" err="1"/>
              <a:t>data.frame</a:t>
            </a:r>
            <a:r>
              <a:rPr lang="en-US" b="1" dirty="0"/>
              <a:t>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Функция</a:t>
            </a:r>
            <a:r>
              <a:rPr lang="en-US" dirty="0"/>
              <a:t> </a:t>
            </a:r>
            <a:r>
              <a:rPr lang="en-US" dirty="0" err="1"/>
              <a:t>data.frame</a:t>
            </a:r>
            <a:r>
              <a:rPr lang="en-US" dirty="0"/>
              <a:t> </a:t>
            </a:r>
            <a:r>
              <a:rPr lang="ru-RU" dirty="0"/>
              <a:t>конвертирует матрицу или коллекцию векторов в блок данных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value3 &lt;- </a:t>
            </a:r>
            <a:r>
              <a:rPr lang="en-US" dirty="0" err="1">
                <a:solidFill>
                  <a:srgbClr val="FF0000"/>
                </a:solidFill>
              </a:rPr>
              <a:t>data.frame</a:t>
            </a:r>
            <a:r>
              <a:rPr lang="en-US" dirty="0">
                <a:solidFill>
                  <a:srgbClr val="FF0000"/>
                </a:solidFill>
              </a:rPr>
              <a:t>(value3)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value3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X1 X2 X3 X4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1 0.5037181 0.2142138 0.3245778 1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2 -0.3206511 -0.4632307 0.2654400 1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3 1.0000000 1.0000000 2.0000000 2</a:t>
            </a:r>
          </a:p>
          <a:p>
            <a:r>
              <a:rPr lang="ru-RU" dirty="0"/>
              <a:t>В другом примере соединим две колонки данных вместе.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value4 &lt;- </a:t>
            </a:r>
            <a:r>
              <a:rPr lang="en-US" dirty="0" err="1">
                <a:solidFill>
                  <a:srgbClr val="FF0000"/>
                </a:solidFill>
              </a:rPr>
              <a:t>data.frame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rnorm</a:t>
            </a:r>
            <a:r>
              <a:rPr lang="en-US" dirty="0">
                <a:solidFill>
                  <a:srgbClr val="FF0000"/>
                </a:solidFill>
              </a:rPr>
              <a:t>(3),</a:t>
            </a:r>
            <a:r>
              <a:rPr lang="en-US" dirty="0" err="1">
                <a:solidFill>
                  <a:srgbClr val="FF0000"/>
                </a:solidFill>
              </a:rPr>
              <a:t>runif</a:t>
            </a:r>
            <a:r>
              <a:rPr lang="en-US" dirty="0">
                <a:solidFill>
                  <a:srgbClr val="FF0000"/>
                </a:solidFill>
              </a:rPr>
              <a:t>(3))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value4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rnorm.3. runif.3.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1 -0.6786953 0.8105632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2 -1.4916136 0.6675202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3 0.4686428 0.6593426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Блоки данных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Имена строк и столбцов в блоке данных создаются по умолчанию, но их можно поменять, используя функции </a:t>
            </a:r>
            <a:r>
              <a:rPr lang="en-US" dirty="0"/>
              <a:t>names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/>
              <a:t>row.names</a:t>
            </a:r>
            <a:r>
              <a:rPr lang="en-US" dirty="0"/>
              <a:t>. </a:t>
            </a:r>
            <a:r>
              <a:rPr lang="ru-RU" dirty="0"/>
              <a:t>Посмотрим названия строк и столбцов блока данных: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names(value3)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[1] "X1" "X2" "X3" "X4"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</a:t>
            </a:r>
            <a:r>
              <a:rPr lang="en-US" dirty="0" err="1">
                <a:solidFill>
                  <a:srgbClr val="FF0000"/>
                </a:solidFill>
              </a:rPr>
              <a:t>row.names</a:t>
            </a:r>
            <a:r>
              <a:rPr lang="en-US" dirty="0">
                <a:solidFill>
                  <a:srgbClr val="FF0000"/>
                </a:solidFill>
              </a:rPr>
              <a:t>(value3)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"1" "2" "3"</a:t>
            </a:r>
          </a:p>
          <a:p>
            <a:r>
              <a:rPr lang="ru-RU" dirty="0"/>
              <a:t>Другие метки можно присвоить следующим образом: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names(value3) &lt;- c("C1","C2","C3","C4")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&gt; row.names(value3) &lt;- c("R1","R2","R3")</a:t>
            </a:r>
          </a:p>
          <a:p>
            <a:r>
              <a:rPr lang="ru-RU" dirty="0"/>
              <a:t>Также можно определять имена с помощью самой функции </a:t>
            </a:r>
            <a:r>
              <a:rPr lang="en-US" dirty="0" err="1"/>
              <a:t>data.frame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&gt; data.frame(C1=rnorm(3),C2=runif(3),row.names=c("R1","R2","R3")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C1 C2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R1 -0.2177390 0.8652764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R2 0.4142899 0.2224165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R3 1.8229383 0.5382999</a:t>
            </a:r>
            <a:endParaRPr lang="ru-RU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Доступ к элементам векторов и матриц через индексирование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Индексирование может осуществляться через</a:t>
            </a:r>
          </a:p>
          <a:p>
            <a:pPr lvl="1"/>
            <a:r>
              <a:rPr lang="ru-RU" dirty="0"/>
              <a:t>Вектор положительных чисел, чтобы указывать включение</a:t>
            </a:r>
          </a:p>
          <a:p>
            <a:pPr lvl="1"/>
            <a:r>
              <a:rPr lang="ru-RU" dirty="0"/>
              <a:t>Вектор отрицательных чисел, чтобы указывать включение</a:t>
            </a:r>
            <a:r>
              <a:rPr lang="en-US" dirty="0"/>
              <a:t> </a:t>
            </a:r>
            <a:endParaRPr lang="ru-RU" dirty="0"/>
          </a:p>
          <a:p>
            <a:pPr lvl="1"/>
            <a:r>
              <a:rPr lang="ru-RU" dirty="0"/>
              <a:t>Вектор логических значений, чтобы указывать, какие элементы нужны, а какие нет</a:t>
            </a:r>
          </a:p>
          <a:p>
            <a:pPr lvl="1"/>
            <a:r>
              <a:rPr lang="ru-RU" dirty="0"/>
              <a:t>Вектор имен, если у объекта есть атрибут </a:t>
            </a:r>
            <a:r>
              <a:rPr lang="en-US" dirty="0"/>
              <a:t>names</a:t>
            </a:r>
          </a:p>
          <a:p>
            <a:r>
              <a:rPr lang="ru-RU" dirty="0"/>
              <a:t>В последнем случае, если справа стоит нулевой индекс, элементы не выбираются. Если нулевой индекс появляется слева, не происходит присваивание.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Индексирование векторов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544616"/>
          </a:xfrm>
        </p:spPr>
        <p:txBody>
          <a:bodyPr>
            <a:normAutofit fontScale="47500" lnSpcReduction="20000"/>
          </a:bodyPr>
          <a:lstStyle/>
          <a:p>
            <a:r>
              <a:rPr lang="ru-RU" dirty="0"/>
              <a:t>Создаем случайный набор значений от 1 до 5 из 20 элементов, определяем, какие элементы равны 1.</a:t>
            </a:r>
            <a:r>
              <a:rPr lang="en-US" dirty="0"/>
              <a:t> </a:t>
            </a:r>
            <a:endParaRPr lang="ru-RU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x &lt;- sample(1:5, 20, rep=T)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x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3 4 1 1 2 1 4 2 1 1 5 3 1 1 1 2 4 5 5 3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x == 1</a:t>
            </a:r>
          </a:p>
          <a:p>
            <a:pPr>
              <a:buNone/>
            </a:pPr>
            <a:r>
              <a:rPr lang="da-DK" dirty="0">
                <a:solidFill>
                  <a:srgbClr val="FF0000"/>
                </a:solidFill>
              </a:rPr>
              <a:t>[1] FALSE FALSE TRUE TRUE FALSE TRUE FALSE FALSE TRUE</a:t>
            </a:r>
          </a:p>
          <a:p>
            <a:pPr>
              <a:buNone/>
            </a:pPr>
            <a:r>
              <a:rPr lang="da-DK" dirty="0">
                <a:solidFill>
                  <a:srgbClr val="FF0000"/>
                </a:solidFill>
              </a:rPr>
              <a:t>[10] TRUE FALSE FALSE TRUE TRUE TRUE FALSE FALSE FALSE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[19] FALSE </a:t>
            </a:r>
            <a:r>
              <a:rPr lang="en-US" dirty="0" err="1">
                <a:solidFill>
                  <a:srgbClr val="FF0000"/>
                </a:solidFill>
              </a:rPr>
              <a:t>FALSE</a:t>
            </a: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ones &lt;- (x == 1) # parentheses unnecessary</a:t>
            </a:r>
            <a:endParaRPr lang="ru-RU" dirty="0">
              <a:solidFill>
                <a:srgbClr val="FF0000"/>
              </a:solidFill>
            </a:endParaRPr>
          </a:p>
          <a:p>
            <a:r>
              <a:rPr lang="ru-RU" dirty="0"/>
              <a:t>Заменим единицы нулями и сохраним значения большие 1 в объект </a:t>
            </a:r>
            <a:r>
              <a:rPr lang="en-US" dirty="0"/>
              <a:t>y.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x[ones] &lt;- 0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x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3 4 0 0 2 0 4 2 0 0 5 3 0 0 0 2 4 5 5 3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others &lt;- (x &gt; 1) # parentheses unnecessary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y &lt;- x[others]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y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3 4 2 4 2 5 3 2 4 5 5 3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ru-RU" dirty="0"/>
              <a:t>Следующая команда возвращает позиции элементов вектора </a:t>
            </a:r>
            <a:r>
              <a:rPr lang="en-US" dirty="0"/>
              <a:t>x</a:t>
            </a:r>
            <a:r>
              <a:rPr lang="ru-RU" dirty="0"/>
              <a:t>, больших 1</a:t>
            </a:r>
            <a:endParaRPr lang="en-US" dirty="0"/>
          </a:p>
          <a:p>
            <a:r>
              <a:rPr lang="en-US" dirty="0"/>
              <a:t>that is greater than 1.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which(x &gt; 1)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1 2 5 7 8 11 12 16 17 18 19 20</a:t>
            </a: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endParaRPr lang="ru-RU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Индексирование блоков данных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7260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Блоки данных индексируются или через строки и столбцы с использованием специального имени, которое соответствует строке или столбцу, или с использованием номеров. </a:t>
            </a:r>
            <a:r>
              <a:rPr lang="en-US" dirty="0"/>
              <a:t>below.</a:t>
            </a:r>
          </a:p>
          <a:p>
            <a:r>
              <a:rPr lang="ru-RU" dirty="0"/>
              <a:t>Индексирование по столбцу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value3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C1 C2 C3 C4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R1 0.5037181 0.2142138 0.3245778 1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R2 -0.3206511 -0.4632307 0.2654400 1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R3 1.0000000 1.0000000 2.0000000 2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value3[, "C1"] &lt;- 0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value3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C1 C2 C3 C4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R1 0 0.2142138 0.3245778 1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R2 0 -0.4632307 0.2654400 1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R3 0 1.0000000 2.0000000 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Индексирование блоков данных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Индексирование по строке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value3["R1", ] &lt;- 0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value3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C1 C2 C3 C4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R1 0 0.0000000 0.0000000 0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R2 0 -0.4632307 0.2654400 1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R3 0 1.0000000 2.0000000 2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value3[] &lt;- 1:12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value3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C1 C2 C3 C4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R1 1 4 7 10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R2 2 5 8 11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R3 3 6 9 12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Индексирование блоков данных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Чтобы получить доступ к первым двум строкам матрицы или блока данных: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value3[1:2,]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C1 C2 C3 C4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R1 1 4 7 10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R2 2 5 8 11</a:t>
            </a:r>
            <a:endParaRPr lang="ru-RU" dirty="0">
              <a:solidFill>
                <a:srgbClr val="FF0000"/>
              </a:solidFill>
            </a:endParaRPr>
          </a:p>
          <a:p>
            <a:r>
              <a:rPr lang="ru-RU" dirty="0"/>
              <a:t>Чтобы получить доступ к первым двум столбцам матрицы или блока данных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value3[,1:2]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C1 C2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R1 1 4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R2 2 5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R3 3 6</a:t>
            </a:r>
          </a:p>
          <a:p>
            <a:r>
              <a:rPr lang="ru-RU" dirty="0"/>
              <a:t>Чтобы получить доступ к элементам со значением больше 5: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</a:t>
            </a:r>
            <a:r>
              <a:rPr lang="en-US" dirty="0" err="1">
                <a:solidFill>
                  <a:srgbClr val="FF0000"/>
                </a:solidFill>
              </a:rPr>
              <a:t>as.vector</a:t>
            </a:r>
            <a:r>
              <a:rPr lang="en-US" dirty="0">
                <a:solidFill>
                  <a:srgbClr val="FF0000"/>
                </a:solidFill>
              </a:rPr>
              <a:t>(value3[value3&gt;5])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6 7 8 9 10 11 12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списков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Списки создаются с помощью функции </a:t>
            </a:r>
            <a:r>
              <a:rPr lang="en-US" dirty="0"/>
              <a:t>list</a:t>
            </a:r>
            <a:r>
              <a:rPr lang="ru-RU" dirty="0"/>
              <a:t>. Могут включать элементы различных видов, длины и размера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L1 &lt;- list(x = sample(1:5, 20, rep=T),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y = rep(letters[1:5], 4), z = </a:t>
            </a:r>
            <a:r>
              <a:rPr lang="en-US" dirty="0" err="1">
                <a:solidFill>
                  <a:srgbClr val="FF0000"/>
                </a:solidFill>
              </a:rPr>
              <a:t>rpois</a:t>
            </a:r>
            <a:r>
              <a:rPr lang="en-US" dirty="0">
                <a:solidFill>
                  <a:srgbClr val="FF0000"/>
                </a:solidFill>
              </a:rPr>
              <a:t>(20, 1))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L1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$x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2 1 1 4 5 3 4 5 5 3 3 3 4 3 2 3 3 2 3 1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$y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[1] "a" "b" "c" "d" "e" "a" "b" "c" "d" "e" "a" "b“</a:t>
            </a:r>
            <a:endParaRPr lang="ru-RU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[13] "c" "d" "e" "a" "b" "c" "d" "e"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$z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1 3 0 0 3 1 3 1 0 1 2 2 0 3 1 1 0 1 2 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 к элементам списка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4576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Через имя или по номеру позиции, на которой находится элемент, с использованием операции взятия подмножества [[]] или извлечения </a:t>
            </a:r>
            <a:r>
              <a:rPr lang="en-US" dirty="0"/>
              <a:t>$</a:t>
            </a:r>
            <a:r>
              <a:rPr lang="ru-RU" dirty="0"/>
              <a:t>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L1[["x"]]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2 1 1 4 5 3 4 5 5 3 3 3 4 3 2 3 3 2 3 1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L1$x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2 1 1 4 5 3 4 5 5 3 3 3 4 3 2 3 3 2 3 1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L1[[1]]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2 1 1 4 5 3 4 5 5 3 3 3 4 3 2 3 3 2 3 1</a:t>
            </a:r>
          </a:p>
          <a:p>
            <a:r>
              <a:rPr lang="ru-RU" dirty="0"/>
              <a:t>Чтобы извлечь подсписок, используются одинарные скобки: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&gt; L1[1]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$x</a:t>
            </a:r>
          </a:p>
          <a:p>
            <a:pPr>
              <a:buNone/>
            </a:pPr>
            <a:r>
              <a:rPr lang="ru-RU" dirty="0">
                <a:solidFill>
                  <a:srgbClr val="FF0000"/>
                </a:solidFill>
              </a:rPr>
              <a:t>[1] 2 1 1 4 5 3 4 5 5 3 3 3 4 3 2 3 3 2 3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4998</TotalTime>
  <Words>3493</Words>
  <Application>Microsoft Office PowerPoint</Application>
  <PresentationFormat>Экран (4:3)</PresentationFormat>
  <Paragraphs>520</Paragraphs>
  <Slides>47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0" baseType="lpstr">
      <vt:lpstr>Arial</vt:lpstr>
      <vt:lpstr>Calibri</vt:lpstr>
      <vt:lpstr>Тема Office</vt:lpstr>
      <vt:lpstr>Введение в R</vt:lpstr>
      <vt:lpstr>Что такое R?</vt:lpstr>
      <vt:lpstr>Где взять R</vt:lpstr>
      <vt:lpstr>Команды языка R</vt:lpstr>
      <vt:lpstr>Объекты R</vt:lpstr>
      <vt:lpstr>Выход из R</vt:lpstr>
      <vt:lpstr>Инсталляция пакетов R</vt:lpstr>
      <vt:lpstr>Язык R</vt:lpstr>
      <vt:lpstr>Ввод команд в R</vt:lpstr>
      <vt:lpstr>Ввод команд в R</vt:lpstr>
      <vt:lpstr>Имена в R</vt:lpstr>
      <vt:lpstr>Использование пробелов</vt:lpstr>
      <vt:lpstr>Справка</vt:lpstr>
      <vt:lpstr>Типы данных</vt:lpstr>
      <vt:lpstr>Атрибуты объекта</vt:lpstr>
      <vt:lpstr>Пропущенные значения</vt:lpstr>
      <vt:lpstr>Неопределенные и бесконечные значения</vt:lpstr>
      <vt:lpstr>Арифметические операторы</vt:lpstr>
      <vt:lpstr>Операторы сравнения</vt:lpstr>
      <vt:lpstr>Логические операторы</vt:lpstr>
      <vt:lpstr>Распределения и симуляция</vt:lpstr>
      <vt:lpstr>Распределения и симуляция</vt:lpstr>
      <vt:lpstr>Пример</vt:lpstr>
      <vt:lpstr>Гистограммы</vt:lpstr>
      <vt:lpstr>Интерпретация результатов</vt:lpstr>
      <vt:lpstr>Центральная предельная теорема</vt:lpstr>
      <vt:lpstr>Объекты R</vt:lpstr>
      <vt:lpstr>Объекты данных в R</vt:lpstr>
      <vt:lpstr>Создание векторов</vt:lpstr>
      <vt:lpstr>Создание векторов</vt:lpstr>
      <vt:lpstr>Создание векторов</vt:lpstr>
      <vt:lpstr>Создание векторов</vt:lpstr>
      <vt:lpstr>Основные вычисления с численными векторами</vt:lpstr>
      <vt:lpstr>Пример</vt:lpstr>
      <vt:lpstr>Функции, которые дают результат такой же длины</vt:lpstr>
      <vt:lpstr>Функции, результатом которых является число</vt:lpstr>
      <vt:lpstr>Создание матриц</vt:lpstr>
      <vt:lpstr>Создание матриц</vt:lpstr>
      <vt:lpstr>Функция data.frame </vt:lpstr>
      <vt:lpstr>Блоки данных</vt:lpstr>
      <vt:lpstr>Доступ к элементам векторов и матриц через индексирование</vt:lpstr>
      <vt:lpstr>Индексирование векторов</vt:lpstr>
      <vt:lpstr>Индексирование блоков данных</vt:lpstr>
      <vt:lpstr>Индексирование блоков данных</vt:lpstr>
      <vt:lpstr>Индексирование блоков данных</vt:lpstr>
      <vt:lpstr>Создание списков</vt:lpstr>
      <vt:lpstr>Доступ к элементам списка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R</dc:title>
  <dc:creator>zench</dc:creator>
  <cp:lastModifiedBy>Виталий Лукинов</cp:lastModifiedBy>
  <cp:revision>78</cp:revision>
  <dcterms:created xsi:type="dcterms:W3CDTF">2016-02-19T13:28:07Z</dcterms:created>
  <dcterms:modified xsi:type="dcterms:W3CDTF">2019-09-06T08:05:20Z</dcterms:modified>
</cp:coreProperties>
</file>